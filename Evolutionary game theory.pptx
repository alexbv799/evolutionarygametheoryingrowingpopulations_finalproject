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060" r:id="rId1"/>
  </p:sldMasterIdLst>
  <p:notesMasterIdLst>
    <p:notesMasterId r:id="rId16"/>
  </p:notesMasterIdLst>
  <p:sldIdLst>
    <p:sldId id="256" r:id="rId2"/>
    <p:sldId id="258" r:id="rId3"/>
    <p:sldId id="260" r:id="rId4"/>
    <p:sldId id="266" r:id="rId5"/>
    <p:sldId id="261" r:id="rId6"/>
    <p:sldId id="264" r:id="rId7"/>
    <p:sldId id="263" r:id="rId8"/>
    <p:sldId id="265" r:id="rId9"/>
    <p:sldId id="262" r:id="rId10"/>
    <p:sldId id="272" r:id="rId11"/>
    <p:sldId id="267" r:id="rId12"/>
    <p:sldId id="268" r:id="rId13"/>
    <p:sldId id="269" r:id="rId14"/>
    <p:sldId id="271"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561" autoAdjust="0"/>
    <p:restoredTop sz="82017" autoAdjust="0"/>
  </p:normalViewPr>
  <p:slideViewPr>
    <p:cSldViewPr snapToGrid="0">
      <p:cViewPr>
        <p:scale>
          <a:sx n="60" d="100"/>
          <a:sy n="60" d="100"/>
        </p:scale>
        <p:origin x="1800" y="32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8A96423-E2BE-406A-8E00-50EA8C0F26E1}" type="datetimeFigureOut">
              <a:rPr lang="en-US" smtClean="0"/>
              <a:t>5/22/2026</a:t>
            </a:fld>
            <a:endParaRPr lang="en-U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C18E92B-89E1-424D-92B5-BDD68C18C3D6}" type="slidenum">
              <a:rPr lang="en-US" smtClean="0"/>
              <a:t>‹Nº›</a:t>
            </a:fld>
            <a:endParaRPr lang="en-US"/>
          </a:p>
        </p:txBody>
      </p:sp>
    </p:spTree>
    <p:extLst>
      <p:ext uri="{BB962C8B-B14F-4D97-AF65-F5344CB8AC3E}">
        <p14:creationId xmlns:p14="http://schemas.microsoft.com/office/powerpoint/2010/main" val="12405295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dirty="0"/>
              <a:t>Classical </a:t>
            </a:r>
            <a:r>
              <a:rPr lang="en-US" dirty="0" err="1"/>
              <a:t>ev</a:t>
            </a:r>
            <a:r>
              <a:rPr lang="en-US" dirty="0"/>
              <a:t>. Game theory</a:t>
            </a:r>
          </a:p>
          <a:p>
            <a:endParaRPr lang="en-US" dirty="0"/>
          </a:p>
          <a:p>
            <a:r>
              <a:rPr lang="en-US" dirty="0"/>
              <a:t>their relative frequency</a:t>
            </a:r>
          </a:p>
        </p:txBody>
      </p:sp>
      <p:sp>
        <p:nvSpPr>
          <p:cNvPr id="4" name="Marcador de número de diapositiva 3"/>
          <p:cNvSpPr>
            <a:spLocks noGrp="1"/>
          </p:cNvSpPr>
          <p:nvPr>
            <p:ph type="sldNum" sz="quarter" idx="5"/>
          </p:nvPr>
        </p:nvSpPr>
        <p:spPr/>
        <p:txBody>
          <a:bodyPr/>
          <a:lstStyle/>
          <a:p>
            <a:fld id="{2C18E92B-89E1-424D-92B5-BDD68C18C3D6}" type="slidenum">
              <a:rPr lang="en-US" smtClean="0"/>
              <a:t>3</a:t>
            </a:fld>
            <a:endParaRPr lang="en-US"/>
          </a:p>
        </p:txBody>
      </p:sp>
    </p:spTree>
    <p:extLst>
      <p:ext uri="{BB962C8B-B14F-4D97-AF65-F5344CB8AC3E}">
        <p14:creationId xmlns:p14="http://schemas.microsoft.com/office/powerpoint/2010/main" val="80912239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dirty="0"/>
              <a:t>G/D: per capita birth/death rates of type S</a:t>
            </a:r>
          </a:p>
          <a:p>
            <a:r>
              <a:rPr lang="en-US" dirty="0"/>
              <a:t>Multiplying by Ns gives the total rate for the subpopulation of type S</a:t>
            </a:r>
          </a:p>
        </p:txBody>
      </p:sp>
      <p:sp>
        <p:nvSpPr>
          <p:cNvPr id="4" name="Marcador de número de diapositiva 3"/>
          <p:cNvSpPr>
            <a:spLocks noGrp="1"/>
          </p:cNvSpPr>
          <p:nvPr>
            <p:ph type="sldNum" sz="quarter" idx="5"/>
          </p:nvPr>
        </p:nvSpPr>
        <p:spPr/>
        <p:txBody>
          <a:bodyPr/>
          <a:lstStyle/>
          <a:p>
            <a:fld id="{2C18E92B-89E1-424D-92B5-BDD68C18C3D6}" type="slidenum">
              <a:rPr lang="en-US" smtClean="0"/>
              <a:t>5</a:t>
            </a:fld>
            <a:endParaRPr lang="en-US"/>
          </a:p>
        </p:txBody>
      </p:sp>
    </p:spTree>
    <p:extLst>
      <p:ext uri="{BB962C8B-B14F-4D97-AF65-F5344CB8AC3E}">
        <p14:creationId xmlns:p14="http://schemas.microsoft.com/office/powerpoint/2010/main" val="315217155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dirty="0"/>
              <a:t>The  deterministic description is obtained by replacing the discrete birth and death events by their average effect per unit time. Since a birth event of type S changes NS by +1, while a death event changes it by −1, the average rate of change of NS is:</a:t>
            </a:r>
          </a:p>
        </p:txBody>
      </p:sp>
      <p:sp>
        <p:nvSpPr>
          <p:cNvPr id="4" name="Marcador de número de diapositiva 3"/>
          <p:cNvSpPr>
            <a:spLocks noGrp="1"/>
          </p:cNvSpPr>
          <p:nvPr>
            <p:ph type="sldNum" sz="quarter" idx="5"/>
          </p:nvPr>
        </p:nvSpPr>
        <p:spPr/>
        <p:txBody>
          <a:bodyPr/>
          <a:lstStyle/>
          <a:p>
            <a:fld id="{2C18E92B-89E1-424D-92B5-BDD68C18C3D6}" type="slidenum">
              <a:rPr lang="en-US" smtClean="0"/>
              <a:t>6</a:t>
            </a:fld>
            <a:endParaRPr lang="en-US"/>
          </a:p>
        </p:txBody>
      </p:sp>
    </p:spTree>
    <p:extLst>
      <p:ext uri="{BB962C8B-B14F-4D97-AF65-F5344CB8AC3E}">
        <p14:creationId xmlns:p14="http://schemas.microsoft.com/office/powerpoint/2010/main" val="11842273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dirty="0"/>
              <a:t>payoff matrix: where the rows indicate the strategy of the individual and the columns the strategy of the individual they interact with.</a:t>
            </a:r>
          </a:p>
          <a:p>
            <a:r>
              <a:rPr lang="en-US" dirty="0"/>
              <a:t>s: Controls how fast internal composition changes</a:t>
            </a:r>
          </a:p>
          <a:p>
            <a:endParaRPr lang="en-US" dirty="0"/>
          </a:p>
          <a:p>
            <a:r>
              <a:rPr lang="en-US" dirty="0"/>
              <a:t>defectors always have a relative fitness advantage over cooperators</a:t>
            </a:r>
          </a:p>
        </p:txBody>
      </p:sp>
      <p:sp>
        <p:nvSpPr>
          <p:cNvPr id="4" name="Marcador de número de diapositiva 3"/>
          <p:cNvSpPr>
            <a:spLocks noGrp="1"/>
          </p:cNvSpPr>
          <p:nvPr>
            <p:ph type="sldNum" sz="quarter" idx="5"/>
          </p:nvPr>
        </p:nvSpPr>
        <p:spPr/>
        <p:txBody>
          <a:bodyPr/>
          <a:lstStyle/>
          <a:p>
            <a:fld id="{2C18E92B-89E1-424D-92B5-BDD68C18C3D6}" type="slidenum">
              <a:rPr lang="en-US" smtClean="0"/>
              <a:t>7</a:t>
            </a:fld>
            <a:endParaRPr lang="en-US"/>
          </a:p>
        </p:txBody>
      </p:sp>
    </p:spTree>
    <p:extLst>
      <p:ext uri="{BB962C8B-B14F-4D97-AF65-F5344CB8AC3E}">
        <p14:creationId xmlns:p14="http://schemas.microsoft.com/office/powerpoint/2010/main" val="35791647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dirty="0"/>
              <a:t>Although defectors have a relative fitness advantage, cooperators still affect the population at the global level. To include this effect, the global fitness is chosen linear with x.</a:t>
            </a:r>
          </a:p>
          <a:p>
            <a:endParaRPr lang="en-US" dirty="0"/>
          </a:p>
          <a:p>
            <a:r>
              <a:rPr lang="en-US" dirty="0"/>
              <a:t>K represents the carrying capacity associated with resource limitation.</a:t>
            </a:r>
          </a:p>
          <a:p>
            <a:endParaRPr lang="en-US" dirty="0"/>
          </a:p>
          <a:p>
            <a:r>
              <a:rPr lang="en-US" dirty="0"/>
              <a:t>A large value of x</a:t>
            </a:r>
          </a:p>
        </p:txBody>
      </p:sp>
      <p:sp>
        <p:nvSpPr>
          <p:cNvPr id="4" name="Marcador de número de diapositiva 3"/>
          <p:cNvSpPr>
            <a:spLocks noGrp="1"/>
          </p:cNvSpPr>
          <p:nvPr>
            <p:ph type="sldNum" sz="quarter" idx="5"/>
          </p:nvPr>
        </p:nvSpPr>
        <p:spPr/>
        <p:txBody>
          <a:bodyPr/>
          <a:lstStyle/>
          <a:p>
            <a:fld id="{2C18E92B-89E1-424D-92B5-BDD68C18C3D6}" type="slidenum">
              <a:rPr lang="en-US" smtClean="0"/>
              <a:t>8</a:t>
            </a:fld>
            <a:endParaRPr lang="en-US"/>
          </a:p>
        </p:txBody>
      </p:sp>
    </p:spTree>
    <p:extLst>
      <p:ext uri="{BB962C8B-B14F-4D97-AF65-F5344CB8AC3E}">
        <p14:creationId xmlns:p14="http://schemas.microsoft.com/office/powerpoint/2010/main" val="40088884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n-US" dirty="0"/>
          </a:p>
        </p:txBody>
      </p:sp>
      <p:sp>
        <p:nvSpPr>
          <p:cNvPr id="4" name="Marcador de número de diapositiva 3"/>
          <p:cNvSpPr>
            <a:spLocks noGrp="1"/>
          </p:cNvSpPr>
          <p:nvPr>
            <p:ph type="sldNum" sz="quarter" idx="5"/>
          </p:nvPr>
        </p:nvSpPr>
        <p:spPr/>
        <p:txBody>
          <a:bodyPr/>
          <a:lstStyle/>
          <a:p>
            <a:fld id="{2C18E92B-89E1-424D-92B5-BDD68C18C3D6}" type="slidenum">
              <a:rPr lang="en-US" smtClean="0"/>
              <a:t>11</a:t>
            </a:fld>
            <a:endParaRPr lang="en-US"/>
          </a:p>
        </p:txBody>
      </p:sp>
    </p:spTree>
    <p:extLst>
      <p:ext uri="{BB962C8B-B14F-4D97-AF65-F5344CB8AC3E}">
        <p14:creationId xmlns:p14="http://schemas.microsoft.com/office/powerpoint/2010/main" val="322694989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a de título">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1100051" y="4455621"/>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E31BA835-12AC-4E8F-955A-EA3F4DE2791F}" type="datetime1">
              <a:rPr lang="en-US" smtClean="0"/>
              <a:t>5/22/2026</a:t>
            </a:fld>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7E7843D-FF13-4365-9478-9625B70A2705}" type="slidenum">
              <a:rPr lang="en-US" smtClean="0"/>
              <a:t>‹Nº›</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90386171"/>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E31BA835-12AC-4E8F-955A-EA3F4DE2791F}" type="datetime1">
              <a:rPr lang="en-US" smtClean="0"/>
              <a:t>5/22/2026</a:t>
            </a:fld>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7E7843D-FF13-4365-9478-9625B70A2705}" type="slidenum">
              <a:rPr lang="en-US" smtClean="0"/>
              <a:t>‹Nº›</a:t>
            </a:fld>
            <a:endParaRPr lang="en-US"/>
          </a:p>
        </p:txBody>
      </p:sp>
    </p:spTree>
    <p:extLst>
      <p:ext uri="{BB962C8B-B14F-4D97-AF65-F5344CB8AC3E}">
        <p14:creationId xmlns:p14="http://schemas.microsoft.com/office/powerpoint/2010/main" val="2517996204"/>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Encabezado de sección">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E31BA835-12AC-4E8F-955A-EA3F4DE2791F}" type="datetime1">
              <a:rPr lang="en-US" smtClean="0"/>
              <a:t>5/22/2026</a:t>
            </a:fld>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7E7843D-FF13-4365-9478-9625B70A2705}" type="slidenum">
              <a:rPr lang="en-US" smtClean="0"/>
              <a:t>‹Nº›</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44179888"/>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1097278" y="1845734"/>
            <a:ext cx="4937760" cy="4023360"/>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E31BA835-12AC-4E8F-955A-EA3F4DE2791F}" type="datetime1">
              <a:rPr lang="en-US" smtClean="0"/>
              <a:t>5/22/2026</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87E7843D-FF13-4365-9478-9625B70A2705}" type="slidenum">
              <a:rPr lang="en-US" smtClean="0"/>
              <a:t>‹Nº›</a:t>
            </a:fld>
            <a:endParaRPr lang="en-US"/>
          </a:p>
        </p:txBody>
      </p:sp>
    </p:spTree>
    <p:extLst>
      <p:ext uri="{BB962C8B-B14F-4D97-AF65-F5344CB8AC3E}">
        <p14:creationId xmlns:p14="http://schemas.microsoft.com/office/powerpoint/2010/main" val="1591965064"/>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Content Placeholder 3"/>
          <p:cNvSpPr>
            <a:spLocks noGrp="1"/>
          </p:cNvSpPr>
          <p:nvPr>
            <p:ph sz="half" idx="2"/>
          </p:nvPr>
        </p:nvSpPr>
        <p:spPr>
          <a:xfrm>
            <a:off x="1097280" y="2582334"/>
            <a:ext cx="4937760" cy="3378200"/>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Content Placeholder 5"/>
          <p:cNvSpPr>
            <a:spLocks noGrp="1"/>
          </p:cNvSpPr>
          <p:nvPr>
            <p:ph sz="quarter" idx="4"/>
          </p:nvPr>
        </p:nvSpPr>
        <p:spPr>
          <a:xfrm>
            <a:off x="6217920" y="2582334"/>
            <a:ext cx="4937760" cy="3378200"/>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E31BA835-12AC-4E8F-955A-EA3F4DE2791F}" type="datetime1">
              <a:rPr lang="en-US" smtClean="0"/>
              <a:t>5/22/2026</a:t>
            </a:fld>
            <a:endParaRPr lang="en-US"/>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7E7843D-FF13-4365-9478-9625B70A2705}" type="slidenum">
              <a:rPr lang="en-US" smtClean="0"/>
              <a:t>‹Nº›</a:t>
            </a:fld>
            <a:endParaRPr lang="en-US"/>
          </a:p>
        </p:txBody>
      </p:sp>
    </p:spTree>
    <p:extLst>
      <p:ext uri="{BB962C8B-B14F-4D97-AF65-F5344CB8AC3E}">
        <p14:creationId xmlns:p14="http://schemas.microsoft.com/office/powerpoint/2010/main" val="3672965839"/>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E31BA835-12AC-4E8F-955A-EA3F4DE2791F}" type="datetime1">
              <a:rPr lang="en-US" smtClean="0"/>
              <a:t>5/22/2026</a:t>
            </a:fld>
            <a:endParaRPr lang="en-US"/>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87E7843D-FF13-4365-9478-9625B70A2705}" type="slidenum">
              <a:rPr lang="en-US" smtClean="0"/>
              <a:t>‹Nº›</a:t>
            </a:fld>
            <a:endParaRPr lang="en-US"/>
          </a:p>
        </p:txBody>
      </p:sp>
    </p:spTree>
    <p:extLst>
      <p:ext uri="{BB962C8B-B14F-4D97-AF65-F5344CB8AC3E}">
        <p14:creationId xmlns:p14="http://schemas.microsoft.com/office/powerpoint/2010/main" val="1827844946"/>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En blanco">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E31BA835-12AC-4E8F-955A-EA3F4DE2791F}" type="datetime1">
              <a:rPr lang="en-US" smtClean="0"/>
              <a:t>5/22/2026</a:t>
            </a:fld>
            <a:endParaRPr lang="en-US"/>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US" dirty="0"/>
          </a:p>
        </p:txBody>
      </p:sp>
      <p:sp>
        <p:nvSpPr>
          <p:cNvPr id="9" name="Slide Number Placeholder 8"/>
          <p:cNvSpPr>
            <a:spLocks noGrp="1"/>
          </p:cNvSpPr>
          <p:nvPr>
            <p:ph type="sldNum" sz="quarter" idx="12"/>
          </p:nvPr>
        </p:nvSpPr>
        <p:spPr/>
        <p:txBody>
          <a:bodyPr/>
          <a:lstStyle/>
          <a:p>
            <a:fld id="{87E7843D-FF13-4365-9478-9625B70A2705}" type="slidenum">
              <a:rPr lang="en-US" smtClean="0"/>
              <a:t>‹Nº›</a:t>
            </a:fld>
            <a:endParaRPr lang="en-US"/>
          </a:p>
        </p:txBody>
      </p:sp>
    </p:spTree>
    <p:extLst>
      <p:ext uri="{BB962C8B-B14F-4D97-AF65-F5344CB8AC3E}">
        <p14:creationId xmlns:p14="http://schemas.microsoft.com/office/powerpoint/2010/main" val="1956071357"/>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ido con título">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s-ES"/>
              <a:t>Haga clic para modificar el estilo de título del patrón</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E31BA835-12AC-4E8F-955A-EA3F4DE2791F}" type="datetime1">
              <a:rPr lang="en-US" smtClean="0"/>
              <a:t>5/22/2026</a:t>
            </a:fld>
            <a:endParaRPr lang="en-US"/>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87E7843D-FF13-4365-9478-9625B70A2705}" type="slidenum">
              <a:rPr lang="en-US" smtClean="0"/>
              <a:t>‹Nº›</a:t>
            </a:fld>
            <a:endParaRPr lang="en-US"/>
          </a:p>
        </p:txBody>
      </p:sp>
    </p:spTree>
    <p:extLst>
      <p:ext uri="{BB962C8B-B14F-4D97-AF65-F5344CB8AC3E}">
        <p14:creationId xmlns:p14="http://schemas.microsoft.com/office/powerpoint/2010/main" val="3572989084"/>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Imagen con título">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645" cy="822960"/>
          </a:xfrm>
        </p:spPr>
        <p:txBody>
          <a:bodyPr lIns="91440" tIns="0" rIns="91440" bIns="0" anchor="b">
            <a:noAutofit/>
          </a:bodyPr>
          <a:lstStyle>
            <a:lvl1pPr>
              <a:defRPr sz="3600" b="0">
                <a:solidFill>
                  <a:srgbClr val="FFFFFF"/>
                </a:solidFill>
              </a:defRPr>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15" y="0"/>
            <a:ext cx="12191985" cy="4915076"/>
          </a:xfrm>
          <a:solidFill>
            <a:schemeClr val="bg2">
              <a:lumMod val="90000"/>
            </a:schemeClr>
          </a:solidFill>
        </p:spPr>
        <p:txBody>
          <a:bodyPr lIns="457200" tIns="45720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n-US" dirty="0"/>
          </a:p>
        </p:txBody>
      </p:sp>
      <p:sp>
        <p:nvSpPr>
          <p:cNvPr id="4" name="Text Placeholder 3"/>
          <p:cNvSpPr>
            <a:spLocks noGrp="1"/>
          </p:cNvSpPr>
          <p:nvPr>
            <p:ph type="body" sz="half" idx="2"/>
          </p:nvPr>
        </p:nvSpPr>
        <p:spPr>
          <a:xfrm>
            <a:off x="1097280" y="5907024"/>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E31BA835-12AC-4E8F-955A-EA3F4DE2791F}" type="datetime1">
              <a:rPr lang="en-US" smtClean="0"/>
              <a:t>5/22/2026</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87E7843D-FF13-4365-9478-9625B70A2705}" type="slidenum">
              <a:rPr lang="en-US" smtClean="0"/>
              <a:t>‹Nº›</a:t>
            </a:fld>
            <a:endParaRPr lang="en-US"/>
          </a:p>
        </p:txBody>
      </p:sp>
    </p:spTree>
    <p:extLst>
      <p:ext uri="{BB962C8B-B14F-4D97-AF65-F5344CB8AC3E}">
        <p14:creationId xmlns:p14="http://schemas.microsoft.com/office/powerpoint/2010/main" val="3753112338"/>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E31BA835-12AC-4E8F-955A-EA3F4DE2791F}" type="datetime1">
              <a:rPr lang="en-US" smtClean="0"/>
              <a:t>5/22/2026</a:t>
            </a:fld>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7E7843D-FF13-4365-9478-9625B70A2705}" type="slidenum">
              <a:rPr lang="en-US" smtClean="0"/>
              <a:t>‹Nº›</a:t>
            </a:fld>
            <a:endParaRPr lang="en-US"/>
          </a:p>
        </p:txBody>
      </p:sp>
    </p:spTree>
    <p:extLst>
      <p:ext uri="{BB962C8B-B14F-4D97-AF65-F5344CB8AC3E}">
        <p14:creationId xmlns:p14="http://schemas.microsoft.com/office/powerpoint/2010/main" val="1325963301"/>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Título vertical y texto">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2302"/>
            <a:ext cx="2628900" cy="5759898"/>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838200" y="412302"/>
            <a:ext cx="7734300" cy="5759898"/>
          </a:xfrm>
        </p:spPr>
        <p:txBody>
          <a:bodyPr vert="eaVert" lIns="45720" tIns="0" rIns="45720" bIns="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E31BA835-12AC-4E8F-955A-EA3F4DE2791F}" type="datetime1">
              <a:rPr lang="en-US" smtClean="0"/>
              <a:t>5/22/2026</a:t>
            </a:fld>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7E7843D-FF13-4365-9478-9625B70A2705}" type="slidenum">
              <a:rPr lang="en-US" smtClean="0"/>
              <a:t>‹Nº›</a:t>
            </a:fld>
            <a:endParaRPr lang="en-US"/>
          </a:p>
        </p:txBody>
      </p:sp>
    </p:spTree>
    <p:extLst>
      <p:ext uri="{BB962C8B-B14F-4D97-AF65-F5344CB8AC3E}">
        <p14:creationId xmlns:p14="http://schemas.microsoft.com/office/powerpoint/2010/main" val="2049193196"/>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15" y="6334316"/>
            <a:ext cx="12191985" cy="6648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E31BA835-12AC-4E8F-955A-EA3F4DE2791F}" type="datetime1">
              <a:rPr lang="en-US" smtClean="0"/>
              <a:t>5/22/2026</a:t>
            </a:fld>
            <a:endParaRPr lang="en-US"/>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US" dirty="0"/>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87E7843D-FF13-4365-9478-9625B70A2705}" type="slidenum">
              <a:rPr lang="en-US" smtClean="0"/>
              <a:t>‹Nº›</a:t>
            </a:fld>
            <a:endParaRPr lang="en-US"/>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77278186"/>
      </p:ext>
    </p:extLst>
  </p:cSld>
  <p:clrMap bg1="lt1" tx1="dk1" bg2="lt2" tx2="dk2" accent1="accent1" accent2="accent2" accent3="accent3" accent4="accent4" accent5="accent5" accent6="accent6" hlink="hlink" folHlink="folHlink"/>
  <p:sldLayoutIdLst>
    <p:sldLayoutId id="2147484061" r:id="rId1"/>
    <p:sldLayoutId id="2147484062" r:id="rId2"/>
    <p:sldLayoutId id="2147484063" r:id="rId3"/>
    <p:sldLayoutId id="2147484064" r:id="rId4"/>
    <p:sldLayoutId id="2147484065" r:id="rId5"/>
    <p:sldLayoutId id="2147484066" r:id="rId6"/>
    <p:sldLayoutId id="2147484067" r:id="rId7"/>
    <p:sldLayoutId id="2147484068" r:id="rId8"/>
    <p:sldLayoutId id="2147484069" r:id="rId9"/>
    <p:sldLayoutId id="2147484070" r:id="rId10"/>
    <p:sldLayoutId id="2147484071" r:id="rId11"/>
  </p:sldLayoutIdLst>
  <p:hf sldNum="0" hdr="0" ftr="0" dt="0"/>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7"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1.jpeg"/><Relationship Id="rId7"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jpeg"/><Relationship Id="rId7" Type="http://schemas.openxmlformats.org/officeDocument/2006/relationships/image" Target="../media/image16.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 Id="rId9" Type="http://schemas.openxmlformats.org/officeDocument/2006/relationships/image" Target="../media/image18.png"/></Relationships>
</file>

<file path=ppt/slides/_rels/slide8.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jpeg"/><Relationship Id="rId7" Type="http://schemas.openxmlformats.org/officeDocument/2006/relationships/image" Target="../media/image22.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26.png"/><Relationship Id="rId4" Type="http://schemas.openxmlformats.org/officeDocument/2006/relationships/image" Target="../media/image25.png"/></Relationships>
</file>

<file path=ppt/slides/_rels/slide1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11.xml.rels><?xml version="1.0" encoding="UTF-8" standalone="yes"?>
<Relationships xmlns="http://schemas.openxmlformats.org/package/2006/relationships"><Relationship Id="rId3" Type="http://schemas.openxmlformats.org/officeDocument/2006/relationships/image" Target="../media/image1.jpeg"/><Relationship Id="rId7" Type="http://schemas.openxmlformats.org/officeDocument/2006/relationships/image" Target="../media/image29.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19.png"/><Relationship Id="rId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4.png"/><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7AD543E-0EC8-AF53-5271-06499902F0EF}"/>
              </a:ext>
            </a:extLst>
          </p:cNvPr>
          <p:cNvPicPr>
            <a:picLocks noGrp="1" noRot="1" noChangeAspect="1" noMove="1" noResize="1" noEditPoints="1" noAdjustHandles="1" noChangeArrowheads="1" noChangeShapeType="1" noCrop="1"/>
          </p:cNvPicPr>
          <p:nvPr/>
        </p:nvPicPr>
        <p:blipFill>
          <a:blip r:embed="rId2"/>
          <a:srcRect t="20213"/>
          <a:stretch>
            <a:fillRect/>
          </a:stretch>
        </p:blipFill>
        <p:spPr>
          <a:xfrm>
            <a:off x="0" y="0"/>
            <a:ext cx="12192000" cy="6857989"/>
          </a:xfrm>
          <a:prstGeom prst="rect">
            <a:avLst/>
          </a:prstGeom>
        </p:spPr>
      </p:pic>
      <p:sp>
        <p:nvSpPr>
          <p:cNvPr id="3" name="Subtítulo 2">
            <a:extLst>
              <a:ext uri="{FF2B5EF4-FFF2-40B4-BE49-F238E27FC236}">
                <a16:creationId xmlns:a16="http://schemas.microsoft.com/office/drawing/2014/main" id="{FFD69F23-B226-3851-A1E0-6B5F2E490C77}"/>
              </a:ext>
            </a:extLst>
          </p:cNvPr>
          <p:cNvSpPr>
            <a:spLocks noGrp="1"/>
          </p:cNvSpPr>
          <p:nvPr>
            <p:ph type="subTitle" idx="1"/>
          </p:nvPr>
        </p:nvSpPr>
        <p:spPr>
          <a:xfrm>
            <a:off x="4139184" y="3931920"/>
            <a:ext cx="3913632" cy="934210"/>
          </a:xfrm>
        </p:spPr>
        <p:txBody>
          <a:bodyPr anchor="ctr">
            <a:normAutofit/>
          </a:bodyPr>
          <a:lstStyle/>
          <a:p>
            <a:r>
              <a:rPr lang="en-US" dirty="0">
                <a:solidFill>
                  <a:schemeClr val="bg1"/>
                </a:solidFill>
              </a:rPr>
              <a:t>C. BRUGUERA VICENTE</a:t>
            </a:r>
          </a:p>
        </p:txBody>
      </p:sp>
      <p:sp>
        <p:nvSpPr>
          <p:cNvPr id="10" name="Título 1">
            <a:extLst>
              <a:ext uri="{FF2B5EF4-FFF2-40B4-BE49-F238E27FC236}">
                <a16:creationId xmlns:a16="http://schemas.microsoft.com/office/drawing/2014/main" id="{C5648271-64CE-057F-695A-97D286DC5CA8}"/>
              </a:ext>
            </a:extLst>
          </p:cNvPr>
          <p:cNvSpPr>
            <a:spLocks noGrp="1"/>
          </p:cNvSpPr>
          <p:nvPr>
            <p:ph type="ctrTitle"/>
          </p:nvPr>
        </p:nvSpPr>
        <p:spPr>
          <a:xfrm>
            <a:off x="1066800" y="1545330"/>
            <a:ext cx="10058400" cy="1947678"/>
          </a:xfrm>
        </p:spPr>
        <p:txBody>
          <a:bodyPr>
            <a:normAutofit/>
          </a:bodyPr>
          <a:lstStyle/>
          <a:p>
            <a:pPr algn="ctr">
              <a:lnSpc>
                <a:spcPct val="100000"/>
              </a:lnSpc>
            </a:pPr>
            <a:r>
              <a:rPr lang="en-US" sz="6000" dirty="0">
                <a:solidFill>
                  <a:schemeClr val="bg1"/>
                </a:solidFill>
              </a:rPr>
              <a:t>Evolutionary Game Theory </a:t>
            </a:r>
            <a:br>
              <a:rPr lang="en-US" sz="6000" dirty="0">
                <a:solidFill>
                  <a:schemeClr val="bg1"/>
                </a:solidFill>
              </a:rPr>
            </a:br>
            <a:r>
              <a:rPr lang="en-US" sz="6000" dirty="0">
                <a:solidFill>
                  <a:schemeClr val="bg1"/>
                </a:solidFill>
              </a:rPr>
              <a:t>in Growing Populations</a:t>
            </a:r>
          </a:p>
        </p:txBody>
      </p:sp>
    </p:spTree>
    <p:extLst>
      <p:ext uri="{BB962C8B-B14F-4D97-AF65-F5344CB8AC3E}">
        <p14:creationId xmlns:p14="http://schemas.microsoft.com/office/powerpoint/2010/main" val="594368049"/>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7B12041-94FA-07AA-37CE-D57EA792546F}"/>
              </a:ext>
            </a:extLst>
          </p:cNvPr>
          <p:cNvPicPr>
            <a:picLocks noGrp="1" noRot="1" noMove="1" noResize="1" noEditPoints="1" noAdjustHandles="1" noChangeArrowheads="1" noChangeShapeType="1" noCrop="1"/>
          </p:cNvPicPr>
          <p:nvPr/>
        </p:nvPicPr>
        <p:blipFill>
          <a:blip r:embed="rId2"/>
          <a:srcRect t="20213"/>
          <a:stretch>
            <a:fillRect/>
          </a:stretch>
        </p:blipFill>
        <p:spPr>
          <a:xfrm>
            <a:off x="0" y="0"/>
            <a:ext cx="12192000" cy="6857989"/>
          </a:xfrm>
          <a:prstGeom prst="rect">
            <a:avLst/>
          </a:prstGeom>
        </p:spPr>
      </p:pic>
      <p:sp>
        <p:nvSpPr>
          <p:cNvPr id="5" name="Rectángulo 4">
            <a:extLst>
              <a:ext uri="{FF2B5EF4-FFF2-40B4-BE49-F238E27FC236}">
                <a16:creationId xmlns:a16="http://schemas.microsoft.com/office/drawing/2014/main" id="{32C1649B-E054-DB0A-98A9-BFD819E903A8}"/>
              </a:ext>
            </a:extLst>
          </p:cNvPr>
          <p:cNvSpPr/>
          <p:nvPr/>
        </p:nvSpPr>
        <p:spPr>
          <a:xfrm>
            <a:off x="957072" y="697264"/>
            <a:ext cx="10198608" cy="98755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 name="Título 1">
            <a:extLst>
              <a:ext uri="{FF2B5EF4-FFF2-40B4-BE49-F238E27FC236}">
                <a16:creationId xmlns:a16="http://schemas.microsoft.com/office/drawing/2014/main" id="{4CE84DB6-2224-C916-F2E1-CAC079636731}"/>
              </a:ext>
            </a:extLst>
          </p:cNvPr>
          <p:cNvSpPr>
            <a:spLocks noGrp="1"/>
          </p:cNvSpPr>
          <p:nvPr>
            <p:ph type="title"/>
          </p:nvPr>
        </p:nvSpPr>
        <p:spPr>
          <a:xfrm>
            <a:off x="957071" y="765110"/>
            <a:ext cx="10127695" cy="790872"/>
          </a:xfrm>
        </p:spPr>
        <p:txBody>
          <a:bodyPr>
            <a:normAutofit/>
          </a:bodyPr>
          <a:lstStyle/>
          <a:p>
            <a:pPr algn="ctr"/>
            <a:r>
              <a:rPr lang="en-US" dirty="0">
                <a:solidFill>
                  <a:schemeClr val="tx1"/>
                </a:solidFill>
              </a:rPr>
              <a:t>Index</a:t>
            </a:r>
          </a:p>
        </p:txBody>
      </p:sp>
      <p:sp>
        <p:nvSpPr>
          <p:cNvPr id="6" name="Rectángulo 5">
            <a:extLst>
              <a:ext uri="{FF2B5EF4-FFF2-40B4-BE49-F238E27FC236}">
                <a16:creationId xmlns:a16="http://schemas.microsoft.com/office/drawing/2014/main" id="{EA903431-55E9-9581-7A0A-70E5481715B4}"/>
              </a:ext>
            </a:extLst>
          </p:cNvPr>
          <p:cNvSpPr>
            <a:spLocks noGrp="1" noRot="1" noMove="1" noResize="1" noEditPoints="1" noAdjustHandles="1" noChangeArrowheads="1" noChangeShapeType="1"/>
          </p:cNvSpPr>
          <p:nvPr/>
        </p:nvSpPr>
        <p:spPr>
          <a:xfrm>
            <a:off x="957072" y="2023962"/>
            <a:ext cx="10198608" cy="4290709"/>
          </a:xfrm>
          <a:prstGeom prst="rect">
            <a:avLst/>
          </a:prstGeom>
          <a:solidFill>
            <a:schemeClr val="bg1">
              <a:lumMod val="95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C0F8FA37-C320-C1C8-2902-42755C56040E}"/>
              </a:ext>
            </a:extLst>
          </p:cNvPr>
          <p:cNvSpPr>
            <a:spLocks noGrp="1"/>
          </p:cNvSpPr>
          <p:nvPr>
            <p:ph idx="1"/>
          </p:nvPr>
        </p:nvSpPr>
        <p:spPr>
          <a:xfrm>
            <a:off x="1744134" y="2141328"/>
            <a:ext cx="9411546" cy="3951562"/>
          </a:xfrm>
        </p:spPr>
        <p:txBody>
          <a:bodyPr>
            <a:normAutofit fontScale="92500"/>
          </a:bodyPr>
          <a:lstStyle/>
          <a:p>
            <a:pPr>
              <a:lnSpc>
                <a:spcPct val="150000"/>
              </a:lnSpc>
              <a:buFont typeface="Wingdings" panose="05000000000000000000" pitchFamily="2" charset="2"/>
              <a:buChar char="q"/>
            </a:pPr>
            <a:r>
              <a:rPr lang="en-US" sz="2400" dirty="0">
                <a:solidFill>
                  <a:schemeClr val="tx1"/>
                </a:solidFill>
              </a:rPr>
              <a:t>Introduction</a:t>
            </a:r>
          </a:p>
          <a:p>
            <a:pPr>
              <a:lnSpc>
                <a:spcPct val="150000"/>
              </a:lnSpc>
              <a:buFont typeface="Wingdings" panose="05000000000000000000" pitchFamily="2" charset="2"/>
              <a:buChar char="q"/>
            </a:pPr>
            <a:r>
              <a:rPr lang="en-US" sz="2400" dirty="0">
                <a:solidFill>
                  <a:schemeClr val="tx1"/>
                </a:solidFill>
              </a:rPr>
              <a:t>Background: Birth-death model &amp; Prisoner’s dilemma game </a:t>
            </a:r>
          </a:p>
          <a:p>
            <a:pPr>
              <a:lnSpc>
                <a:spcPct val="150000"/>
              </a:lnSpc>
              <a:buFont typeface="Wingdings" panose="05000000000000000000" pitchFamily="2" charset="2"/>
              <a:buChar char="q"/>
            </a:pPr>
            <a:r>
              <a:rPr lang="en-US" sz="2400" dirty="0">
                <a:solidFill>
                  <a:schemeClr val="tx1"/>
                </a:solidFill>
              </a:rPr>
              <a:t>Model modification</a:t>
            </a:r>
          </a:p>
          <a:p>
            <a:pPr>
              <a:lnSpc>
                <a:spcPct val="150000"/>
              </a:lnSpc>
              <a:buFont typeface="Wingdings" panose="05000000000000000000" pitchFamily="2" charset="2"/>
              <a:buChar char="q"/>
            </a:pPr>
            <a:r>
              <a:rPr lang="en-US" sz="2400" dirty="0">
                <a:solidFill>
                  <a:schemeClr val="tx1"/>
                </a:solidFill>
              </a:rPr>
              <a:t>Result: Dynamics</a:t>
            </a:r>
          </a:p>
          <a:p>
            <a:pPr>
              <a:lnSpc>
                <a:spcPct val="150000"/>
              </a:lnSpc>
              <a:buFont typeface="Wingdings" panose="05000000000000000000" pitchFamily="2" charset="2"/>
              <a:buChar char="q"/>
            </a:pPr>
            <a:r>
              <a:rPr lang="en-US" sz="2400" dirty="0">
                <a:solidFill>
                  <a:schemeClr val="tx1"/>
                </a:solidFill>
              </a:rPr>
              <a:t>Result: Competition between selection and growth</a:t>
            </a:r>
          </a:p>
          <a:p>
            <a:pPr>
              <a:lnSpc>
                <a:spcPct val="150000"/>
              </a:lnSpc>
              <a:buFont typeface="Wingdings" panose="05000000000000000000" pitchFamily="2" charset="2"/>
              <a:buChar char="q"/>
            </a:pPr>
            <a:r>
              <a:rPr lang="en-US" sz="2400" dirty="0">
                <a:solidFill>
                  <a:schemeClr val="tx1"/>
                </a:solidFill>
              </a:rPr>
              <a:t>Conclusions</a:t>
            </a:r>
          </a:p>
        </p:txBody>
      </p:sp>
    </p:spTree>
    <p:extLst>
      <p:ext uri="{BB962C8B-B14F-4D97-AF65-F5344CB8AC3E}">
        <p14:creationId xmlns:p14="http://schemas.microsoft.com/office/powerpoint/2010/main" val="31998869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EF01D-71F2-83CE-4C80-BC25111B15EA}"/>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616A8EE9-B76C-A73F-DCD1-ECF9AF78B8DD}"/>
              </a:ext>
            </a:extLst>
          </p:cNvPr>
          <p:cNvPicPr>
            <a:picLocks noGrp="1" noRot="1" noMove="1" noResize="1" noEditPoints="1" noAdjustHandles="1" noChangeArrowheads="1" noChangeShapeType="1" noCrop="1"/>
          </p:cNvPicPr>
          <p:nvPr/>
        </p:nvPicPr>
        <p:blipFill>
          <a:blip r:embed="rId3"/>
          <a:srcRect t="20213"/>
          <a:stretch>
            <a:fillRect/>
          </a:stretch>
        </p:blipFill>
        <p:spPr>
          <a:xfrm>
            <a:off x="0" y="0"/>
            <a:ext cx="12192000" cy="6857989"/>
          </a:xfrm>
          <a:prstGeom prst="rect">
            <a:avLst/>
          </a:prstGeom>
        </p:spPr>
      </p:pic>
      <p:sp>
        <p:nvSpPr>
          <p:cNvPr id="5" name="Rectángulo 4">
            <a:extLst>
              <a:ext uri="{FF2B5EF4-FFF2-40B4-BE49-F238E27FC236}">
                <a16:creationId xmlns:a16="http://schemas.microsoft.com/office/drawing/2014/main" id="{D9E5BC46-C07D-526F-6527-8E8E40D661F7}"/>
              </a:ext>
            </a:extLst>
          </p:cNvPr>
          <p:cNvSpPr>
            <a:spLocks noGrp="1" noRot="1" noMove="1" noResize="1" noEditPoints="1" noAdjustHandles="1" noChangeArrowheads="1" noChangeShapeType="1"/>
          </p:cNvSpPr>
          <p:nvPr/>
        </p:nvSpPr>
        <p:spPr>
          <a:xfrm>
            <a:off x="957072" y="697264"/>
            <a:ext cx="10198608" cy="98755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 name="Título 1">
            <a:extLst>
              <a:ext uri="{FF2B5EF4-FFF2-40B4-BE49-F238E27FC236}">
                <a16:creationId xmlns:a16="http://schemas.microsoft.com/office/drawing/2014/main" id="{CB811145-2048-BF86-6766-8D37AC6D6266}"/>
              </a:ext>
            </a:extLst>
          </p:cNvPr>
          <p:cNvSpPr>
            <a:spLocks noGrp="1"/>
          </p:cNvSpPr>
          <p:nvPr>
            <p:ph type="title"/>
          </p:nvPr>
        </p:nvSpPr>
        <p:spPr>
          <a:xfrm>
            <a:off x="957071" y="765110"/>
            <a:ext cx="10127695" cy="790872"/>
          </a:xfrm>
        </p:spPr>
        <p:txBody>
          <a:bodyPr>
            <a:normAutofit/>
          </a:bodyPr>
          <a:lstStyle/>
          <a:p>
            <a:pPr algn="ctr"/>
            <a:r>
              <a:rPr lang="en-US" dirty="0">
                <a:solidFill>
                  <a:schemeClr val="tx1"/>
                </a:solidFill>
              </a:rPr>
              <a:t>Introduction</a:t>
            </a:r>
          </a:p>
        </p:txBody>
      </p:sp>
      <p:sp>
        <p:nvSpPr>
          <p:cNvPr id="6" name="Rectángulo 5">
            <a:extLst>
              <a:ext uri="{FF2B5EF4-FFF2-40B4-BE49-F238E27FC236}">
                <a16:creationId xmlns:a16="http://schemas.microsoft.com/office/drawing/2014/main" id="{0D2E24CB-C30D-CA43-2B77-54D706933CFF}"/>
              </a:ext>
            </a:extLst>
          </p:cNvPr>
          <p:cNvSpPr>
            <a:spLocks noGrp="1" noRot="1" noMove="1" noResize="1" noEditPoints="1" noAdjustHandles="1" noChangeArrowheads="1" noChangeShapeType="1"/>
          </p:cNvSpPr>
          <p:nvPr/>
        </p:nvSpPr>
        <p:spPr>
          <a:xfrm>
            <a:off x="957072" y="2023962"/>
            <a:ext cx="4544568" cy="4290709"/>
          </a:xfrm>
          <a:prstGeom prst="rect">
            <a:avLst/>
          </a:prstGeom>
          <a:solidFill>
            <a:schemeClr val="bg1">
              <a:lumMod val="95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ángulo 2">
            <a:extLst>
              <a:ext uri="{FF2B5EF4-FFF2-40B4-BE49-F238E27FC236}">
                <a16:creationId xmlns:a16="http://schemas.microsoft.com/office/drawing/2014/main" id="{E8BBE903-F1C1-D5D2-B252-099285A58E89}"/>
              </a:ext>
            </a:extLst>
          </p:cNvPr>
          <p:cNvSpPr>
            <a:spLocks noGrp="1" noRot="1" noMove="1" noResize="1" noEditPoints="1" noAdjustHandles="1" noChangeArrowheads="1" noChangeShapeType="1"/>
          </p:cNvSpPr>
          <p:nvPr/>
        </p:nvSpPr>
        <p:spPr>
          <a:xfrm>
            <a:off x="6611112" y="2023962"/>
            <a:ext cx="4544568" cy="4290709"/>
          </a:xfrm>
          <a:prstGeom prst="rect">
            <a:avLst/>
          </a:prstGeom>
          <a:solidFill>
            <a:schemeClr val="bg1">
              <a:lumMod val="95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uadroTexto 8">
            <a:extLst>
              <a:ext uri="{FF2B5EF4-FFF2-40B4-BE49-F238E27FC236}">
                <a16:creationId xmlns:a16="http://schemas.microsoft.com/office/drawing/2014/main" id="{29957E8A-348D-B889-4464-F97244593D19}"/>
              </a:ext>
            </a:extLst>
          </p:cNvPr>
          <p:cNvSpPr txBox="1"/>
          <p:nvPr/>
        </p:nvSpPr>
        <p:spPr>
          <a:xfrm>
            <a:off x="957071" y="2080594"/>
            <a:ext cx="4544569" cy="461665"/>
          </a:xfrm>
          <a:prstGeom prst="rect">
            <a:avLst/>
          </a:prstGeom>
          <a:noFill/>
        </p:spPr>
        <p:txBody>
          <a:bodyPr wrap="square">
            <a:spAutoFit/>
          </a:bodyPr>
          <a:lstStyle/>
          <a:p>
            <a:pPr algn="ctr"/>
            <a:r>
              <a:rPr lang="en-US" sz="2400" dirty="0">
                <a:solidFill>
                  <a:schemeClr val="tx1"/>
                </a:solidFill>
                <a:latin typeface="+mj-lt"/>
              </a:rPr>
              <a:t>Evolutionary game theory</a:t>
            </a:r>
            <a:endParaRPr lang="en-US" sz="2400" dirty="0">
              <a:latin typeface="+mj-lt"/>
            </a:endParaRPr>
          </a:p>
        </p:txBody>
      </p:sp>
      <p:sp>
        <p:nvSpPr>
          <p:cNvPr id="10" name="CuadroTexto 9">
            <a:extLst>
              <a:ext uri="{FF2B5EF4-FFF2-40B4-BE49-F238E27FC236}">
                <a16:creationId xmlns:a16="http://schemas.microsoft.com/office/drawing/2014/main" id="{2C968038-8D8B-13AE-EA49-5F8314F8E330}"/>
              </a:ext>
            </a:extLst>
          </p:cNvPr>
          <p:cNvSpPr txBox="1"/>
          <p:nvPr/>
        </p:nvSpPr>
        <p:spPr>
          <a:xfrm>
            <a:off x="6611111" y="2080593"/>
            <a:ext cx="4544569" cy="461665"/>
          </a:xfrm>
          <a:prstGeom prst="rect">
            <a:avLst/>
          </a:prstGeom>
          <a:noFill/>
        </p:spPr>
        <p:txBody>
          <a:bodyPr wrap="square">
            <a:spAutoFit/>
          </a:bodyPr>
          <a:lstStyle/>
          <a:p>
            <a:pPr algn="ctr"/>
            <a:r>
              <a:rPr lang="en-US" sz="2400" dirty="0">
                <a:solidFill>
                  <a:schemeClr val="tx1"/>
                </a:solidFill>
                <a:latin typeface="+mj-lt"/>
              </a:rPr>
              <a:t>Ecology</a:t>
            </a:r>
            <a:endParaRPr lang="en-US" sz="2400" dirty="0">
              <a:latin typeface="+mj-lt"/>
            </a:endParaRPr>
          </a:p>
        </p:txBody>
      </p:sp>
      <p:sp>
        <p:nvSpPr>
          <p:cNvPr id="15" name="CuadroTexto 14">
            <a:extLst>
              <a:ext uri="{FF2B5EF4-FFF2-40B4-BE49-F238E27FC236}">
                <a16:creationId xmlns:a16="http://schemas.microsoft.com/office/drawing/2014/main" id="{FB40D58F-6C79-9DD7-B761-CDEFB13824B4}"/>
              </a:ext>
            </a:extLst>
          </p:cNvPr>
          <p:cNvSpPr txBox="1"/>
          <p:nvPr/>
        </p:nvSpPr>
        <p:spPr>
          <a:xfrm>
            <a:off x="1229196" y="2714183"/>
            <a:ext cx="4272444" cy="1429622"/>
          </a:xfrm>
          <a:prstGeom prst="rect">
            <a:avLst/>
          </a:prstGeom>
          <a:noFill/>
        </p:spPr>
        <p:txBody>
          <a:bodyPr wrap="square">
            <a:spAutoFit/>
          </a:bodyPr>
          <a:lstStyle/>
          <a:p>
            <a:pPr algn="just">
              <a:lnSpc>
                <a:spcPct val="150000"/>
              </a:lnSpc>
            </a:pPr>
            <a:r>
              <a:rPr lang="en-US" sz="2000" dirty="0">
                <a:solidFill>
                  <a:schemeClr val="tx1"/>
                </a:solidFill>
              </a:rPr>
              <a:t>Species’ Traits/Strategies: A, B</a:t>
            </a:r>
          </a:p>
          <a:p>
            <a:pPr algn="just">
              <a:lnSpc>
                <a:spcPct val="150000"/>
              </a:lnSpc>
            </a:pPr>
            <a:r>
              <a:rPr lang="en-US" sz="2000" dirty="0"/>
              <a:t>Fraction of individuals with A: x</a:t>
            </a:r>
          </a:p>
          <a:p>
            <a:pPr algn="just">
              <a:lnSpc>
                <a:spcPct val="150000"/>
              </a:lnSpc>
            </a:pPr>
            <a:r>
              <a:rPr lang="en-US" sz="2000" dirty="0"/>
              <a:t>Dynamics: Replicator equation</a:t>
            </a:r>
          </a:p>
        </p:txBody>
      </p:sp>
      <p:pic>
        <p:nvPicPr>
          <p:cNvPr id="17" name="Imagen 16">
            <a:extLst>
              <a:ext uri="{FF2B5EF4-FFF2-40B4-BE49-F238E27FC236}">
                <a16:creationId xmlns:a16="http://schemas.microsoft.com/office/drawing/2014/main" id="{BF3D6C8A-BE5D-6BBB-F789-6D86F91AC0AF}"/>
              </a:ext>
            </a:extLst>
          </p:cNvPr>
          <p:cNvPicPr>
            <a:picLocks noChangeAspect="1"/>
          </p:cNvPicPr>
          <p:nvPr/>
        </p:nvPicPr>
        <p:blipFill>
          <a:blip r:embed="rId4"/>
          <a:srcRect t="47840"/>
          <a:stretch>
            <a:fillRect/>
          </a:stretch>
        </p:blipFill>
        <p:spPr>
          <a:xfrm>
            <a:off x="2252960" y="4909557"/>
            <a:ext cx="1952790" cy="524535"/>
          </a:xfrm>
          <a:prstGeom prst="rect">
            <a:avLst/>
          </a:prstGeom>
        </p:spPr>
      </p:pic>
      <p:pic>
        <p:nvPicPr>
          <p:cNvPr id="19" name="Imagen 18">
            <a:extLst>
              <a:ext uri="{FF2B5EF4-FFF2-40B4-BE49-F238E27FC236}">
                <a16:creationId xmlns:a16="http://schemas.microsoft.com/office/drawing/2014/main" id="{0092F207-9EF9-3B5C-815E-BA7CDD2E9DDA}"/>
              </a:ext>
            </a:extLst>
          </p:cNvPr>
          <p:cNvPicPr>
            <a:picLocks noChangeAspect="1"/>
          </p:cNvPicPr>
          <p:nvPr/>
        </p:nvPicPr>
        <p:blipFill>
          <a:blip r:embed="rId5"/>
          <a:srcRect t="49654"/>
          <a:stretch>
            <a:fillRect/>
          </a:stretch>
        </p:blipFill>
        <p:spPr>
          <a:xfrm>
            <a:off x="8098514" y="4284870"/>
            <a:ext cx="1569761" cy="506293"/>
          </a:xfrm>
          <a:prstGeom prst="rect">
            <a:avLst/>
          </a:prstGeom>
        </p:spPr>
      </p:pic>
      <p:sp>
        <p:nvSpPr>
          <p:cNvPr id="21" name="CuadroTexto 20">
            <a:extLst>
              <a:ext uri="{FF2B5EF4-FFF2-40B4-BE49-F238E27FC236}">
                <a16:creationId xmlns:a16="http://schemas.microsoft.com/office/drawing/2014/main" id="{47309D3E-55AA-5883-DCA1-91D00CDBC8ED}"/>
              </a:ext>
            </a:extLst>
          </p:cNvPr>
          <p:cNvSpPr txBox="1"/>
          <p:nvPr/>
        </p:nvSpPr>
        <p:spPr>
          <a:xfrm>
            <a:off x="6962484" y="2761366"/>
            <a:ext cx="4272444" cy="506292"/>
          </a:xfrm>
          <a:prstGeom prst="rect">
            <a:avLst/>
          </a:prstGeom>
          <a:noFill/>
        </p:spPr>
        <p:txBody>
          <a:bodyPr wrap="square">
            <a:spAutoFit/>
          </a:bodyPr>
          <a:lstStyle/>
          <a:p>
            <a:pPr algn="just">
              <a:lnSpc>
                <a:spcPct val="150000"/>
              </a:lnSpc>
            </a:pPr>
            <a:r>
              <a:rPr lang="en-US" sz="2000" dirty="0">
                <a:solidFill>
                  <a:schemeClr val="tx1"/>
                </a:solidFill>
              </a:rPr>
              <a:t>Total size of population: N</a:t>
            </a:r>
            <a:endParaRPr lang="en-US" sz="2000" dirty="0"/>
          </a:p>
        </p:txBody>
      </p:sp>
      <p:pic>
        <p:nvPicPr>
          <p:cNvPr id="22" name="Imagen 21">
            <a:extLst>
              <a:ext uri="{FF2B5EF4-FFF2-40B4-BE49-F238E27FC236}">
                <a16:creationId xmlns:a16="http://schemas.microsoft.com/office/drawing/2014/main" id="{EEBBD0F0-50E7-D00E-BD31-3F6F5F654DC9}"/>
              </a:ext>
            </a:extLst>
          </p:cNvPr>
          <p:cNvPicPr>
            <a:picLocks noChangeAspect="1"/>
          </p:cNvPicPr>
          <p:nvPr/>
        </p:nvPicPr>
        <p:blipFill>
          <a:blip r:embed="rId4"/>
          <a:srcRect b="47840"/>
          <a:stretch>
            <a:fillRect/>
          </a:stretch>
        </p:blipFill>
        <p:spPr>
          <a:xfrm>
            <a:off x="2252960" y="4428465"/>
            <a:ext cx="1952790" cy="524535"/>
          </a:xfrm>
          <a:prstGeom prst="rect">
            <a:avLst/>
          </a:prstGeom>
        </p:spPr>
      </p:pic>
      <p:pic>
        <p:nvPicPr>
          <p:cNvPr id="23" name="Imagen 22">
            <a:extLst>
              <a:ext uri="{FF2B5EF4-FFF2-40B4-BE49-F238E27FC236}">
                <a16:creationId xmlns:a16="http://schemas.microsoft.com/office/drawing/2014/main" id="{FE38D983-1C54-A14D-2E24-92564961F69F}"/>
              </a:ext>
            </a:extLst>
          </p:cNvPr>
          <p:cNvPicPr>
            <a:picLocks noChangeAspect="1"/>
          </p:cNvPicPr>
          <p:nvPr/>
        </p:nvPicPr>
        <p:blipFill>
          <a:blip r:embed="rId5"/>
          <a:srcRect b="49654"/>
          <a:stretch>
            <a:fillRect/>
          </a:stretch>
        </p:blipFill>
        <p:spPr>
          <a:xfrm>
            <a:off x="8098514" y="3785536"/>
            <a:ext cx="1569761" cy="506292"/>
          </a:xfrm>
          <a:prstGeom prst="rect">
            <a:avLst/>
          </a:prstGeom>
        </p:spPr>
      </p:pic>
    </p:spTree>
    <p:extLst>
      <p:ext uri="{BB962C8B-B14F-4D97-AF65-F5344CB8AC3E}">
        <p14:creationId xmlns:p14="http://schemas.microsoft.com/office/powerpoint/2010/main" val="16927261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2B815-320C-DC5B-1513-9FCED0B1A91E}"/>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D6B30E75-2959-800F-B79A-6C7B3ECA8E13}"/>
              </a:ext>
            </a:extLst>
          </p:cNvPr>
          <p:cNvPicPr>
            <a:picLocks noGrp="1" noRot="1" noMove="1" noResize="1" noEditPoints="1" noAdjustHandles="1" noChangeArrowheads="1" noChangeShapeType="1" noCrop="1"/>
          </p:cNvPicPr>
          <p:nvPr/>
        </p:nvPicPr>
        <p:blipFill>
          <a:blip r:embed="rId2"/>
          <a:srcRect t="20213"/>
          <a:stretch>
            <a:fillRect/>
          </a:stretch>
        </p:blipFill>
        <p:spPr>
          <a:xfrm>
            <a:off x="0" y="0"/>
            <a:ext cx="12192000" cy="6857989"/>
          </a:xfrm>
          <a:prstGeom prst="rect">
            <a:avLst/>
          </a:prstGeom>
        </p:spPr>
      </p:pic>
      <p:sp>
        <p:nvSpPr>
          <p:cNvPr id="5" name="Rectángulo 4">
            <a:extLst>
              <a:ext uri="{FF2B5EF4-FFF2-40B4-BE49-F238E27FC236}">
                <a16:creationId xmlns:a16="http://schemas.microsoft.com/office/drawing/2014/main" id="{C9B663F9-3476-40CB-20F2-D8421C113585}"/>
              </a:ext>
            </a:extLst>
          </p:cNvPr>
          <p:cNvSpPr>
            <a:spLocks noGrp="1" noRot="1" noMove="1" noResize="1" noEditPoints="1" noAdjustHandles="1" noChangeArrowheads="1" noChangeShapeType="1"/>
          </p:cNvSpPr>
          <p:nvPr/>
        </p:nvSpPr>
        <p:spPr>
          <a:xfrm>
            <a:off x="957072" y="697264"/>
            <a:ext cx="10198608" cy="98755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 name="Título 1">
            <a:extLst>
              <a:ext uri="{FF2B5EF4-FFF2-40B4-BE49-F238E27FC236}">
                <a16:creationId xmlns:a16="http://schemas.microsoft.com/office/drawing/2014/main" id="{D2FEECC2-811B-CC54-346C-4CC86F7B5EB3}"/>
              </a:ext>
            </a:extLst>
          </p:cNvPr>
          <p:cNvSpPr>
            <a:spLocks noGrp="1"/>
          </p:cNvSpPr>
          <p:nvPr>
            <p:ph type="title"/>
          </p:nvPr>
        </p:nvSpPr>
        <p:spPr>
          <a:xfrm>
            <a:off x="957071" y="765110"/>
            <a:ext cx="10127695" cy="790872"/>
          </a:xfrm>
        </p:spPr>
        <p:txBody>
          <a:bodyPr>
            <a:normAutofit/>
          </a:bodyPr>
          <a:lstStyle/>
          <a:p>
            <a:pPr algn="ctr"/>
            <a:r>
              <a:rPr lang="en-US" dirty="0">
                <a:solidFill>
                  <a:schemeClr val="tx1"/>
                </a:solidFill>
              </a:rPr>
              <a:t>Introduction</a:t>
            </a:r>
          </a:p>
        </p:txBody>
      </p:sp>
      <p:sp>
        <p:nvSpPr>
          <p:cNvPr id="3" name="Rectángulo 2">
            <a:extLst>
              <a:ext uri="{FF2B5EF4-FFF2-40B4-BE49-F238E27FC236}">
                <a16:creationId xmlns:a16="http://schemas.microsoft.com/office/drawing/2014/main" id="{E3011D06-04DF-4F35-E3E2-104E854C7071}"/>
              </a:ext>
            </a:extLst>
          </p:cNvPr>
          <p:cNvSpPr>
            <a:spLocks noGrp="1" noRot="1" noMove="1" noResize="1" noEditPoints="1" noAdjustHandles="1" noChangeArrowheads="1" noChangeShapeType="1"/>
          </p:cNvSpPr>
          <p:nvPr/>
        </p:nvSpPr>
        <p:spPr>
          <a:xfrm>
            <a:off x="6611112" y="2023962"/>
            <a:ext cx="4544568" cy="4290709"/>
          </a:xfrm>
          <a:prstGeom prst="rect">
            <a:avLst/>
          </a:prstGeom>
          <a:solidFill>
            <a:schemeClr val="bg1">
              <a:lumMod val="95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CuadroTexto 9">
            <a:extLst>
              <a:ext uri="{FF2B5EF4-FFF2-40B4-BE49-F238E27FC236}">
                <a16:creationId xmlns:a16="http://schemas.microsoft.com/office/drawing/2014/main" id="{809E87EA-54A6-34C2-2D33-9524904432A3}"/>
              </a:ext>
            </a:extLst>
          </p:cNvPr>
          <p:cNvSpPr txBox="1"/>
          <p:nvPr/>
        </p:nvSpPr>
        <p:spPr>
          <a:xfrm>
            <a:off x="6527137" y="3735654"/>
            <a:ext cx="2290292" cy="400110"/>
          </a:xfrm>
          <a:prstGeom prst="rect">
            <a:avLst/>
          </a:prstGeom>
          <a:noFill/>
        </p:spPr>
        <p:txBody>
          <a:bodyPr wrap="square">
            <a:spAutoFit/>
          </a:bodyPr>
          <a:lstStyle/>
          <a:p>
            <a:pPr algn="ctr"/>
            <a:r>
              <a:rPr lang="en-US" sz="2000" dirty="0">
                <a:solidFill>
                  <a:schemeClr val="tx1"/>
                </a:solidFill>
                <a:latin typeface="+mj-lt"/>
              </a:rPr>
              <a:t>New ant colony: </a:t>
            </a:r>
            <a:endParaRPr lang="en-US" sz="2000" dirty="0">
              <a:latin typeface="+mj-lt"/>
            </a:endParaRPr>
          </a:p>
        </p:txBody>
      </p:sp>
      <p:sp>
        <p:nvSpPr>
          <p:cNvPr id="16" name="Rectángulo: esquinas redondeadas 15">
            <a:extLst>
              <a:ext uri="{FF2B5EF4-FFF2-40B4-BE49-F238E27FC236}">
                <a16:creationId xmlns:a16="http://schemas.microsoft.com/office/drawing/2014/main" id="{E65E18DD-040C-7B79-32FC-70DAAEB5EF44}"/>
              </a:ext>
            </a:extLst>
          </p:cNvPr>
          <p:cNvSpPr/>
          <p:nvPr/>
        </p:nvSpPr>
        <p:spPr>
          <a:xfrm>
            <a:off x="6804660" y="2321092"/>
            <a:ext cx="4214958" cy="1186471"/>
          </a:xfrm>
          <a:prstGeom prst="roundRect">
            <a:avLst/>
          </a:prstGeom>
          <a:solidFill>
            <a:schemeClr val="accent4">
              <a:lumMod val="20000"/>
              <a:lumOff val="80000"/>
            </a:schemeClr>
          </a:solidFill>
          <a:ln w="38100">
            <a:solidFill>
              <a:schemeClr val="accent4">
                <a:lumMod val="60000"/>
                <a:lumOff val="40000"/>
              </a:schemeClr>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
        <p:nvSpPr>
          <p:cNvPr id="21" name="CuadroTexto 20">
            <a:extLst>
              <a:ext uri="{FF2B5EF4-FFF2-40B4-BE49-F238E27FC236}">
                <a16:creationId xmlns:a16="http://schemas.microsoft.com/office/drawing/2014/main" id="{1F7FDE47-E943-F807-FF60-A93A1C5F757E}"/>
              </a:ext>
            </a:extLst>
          </p:cNvPr>
          <p:cNvSpPr txBox="1"/>
          <p:nvPr/>
        </p:nvSpPr>
        <p:spPr>
          <a:xfrm>
            <a:off x="6611112" y="2253438"/>
            <a:ext cx="4544568" cy="1143070"/>
          </a:xfrm>
          <a:prstGeom prst="rect">
            <a:avLst/>
          </a:prstGeom>
          <a:noFill/>
        </p:spPr>
        <p:txBody>
          <a:bodyPr wrap="square">
            <a:spAutoFit/>
          </a:bodyPr>
          <a:lstStyle/>
          <a:p>
            <a:pPr algn="ctr">
              <a:lnSpc>
                <a:spcPct val="150000"/>
              </a:lnSpc>
            </a:pPr>
            <a:r>
              <a:rPr lang="en-US" sz="2400" dirty="0">
                <a:solidFill>
                  <a:schemeClr val="tx1"/>
                </a:solidFill>
              </a:rPr>
              <a:t>Internal strategy and total population are not independent.</a:t>
            </a:r>
            <a:endParaRPr lang="en-US" sz="2400" dirty="0"/>
          </a:p>
        </p:txBody>
      </p:sp>
      <p:pic>
        <p:nvPicPr>
          <p:cNvPr id="12" name="Imagen 11">
            <a:extLst>
              <a:ext uri="{FF2B5EF4-FFF2-40B4-BE49-F238E27FC236}">
                <a16:creationId xmlns:a16="http://schemas.microsoft.com/office/drawing/2014/main" id="{77AF00A6-D1FE-705E-FAE1-6F73C23AA42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03456" y="2615956"/>
            <a:ext cx="4318435" cy="2878956"/>
          </a:xfrm>
          <a:prstGeom prst="rect">
            <a:avLst/>
          </a:prstGeom>
        </p:spPr>
      </p:pic>
      <p:sp>
        <p:nvSpPr>
          <p:cNvPr id="13" name="CuadroTexto 12">
            <a:extLst>
              <a:ext uri="{FF2B5EF4-FFF2-40B4-BE49-F238E27FC236}">
                <a16:creationId xmlns:a16="http://schemas.microsoft.com/office/drawing/2014/main" id="{5BCA2DF9-0F0A-9FE0-E0F9-3E13A89D5390}"/>
              </a:ext>
            </a:extLst>
          </p:cNvPr>
          <p:cNvSpPr txBox="1"/>
          <p:nvPr/>
        </p:nvSpPr>
        <p:spPr>
          <a:xfrm>
            <a:off x="6747174" y="4055434"/>
            <a:ext cx="4272444" cy="1711366"/>
          </a:xfrm>
          <a:prstGeom prst="rect">
            <a:avLst/>
          </a:prstGeom>
          <a:noFill/>
        </p:spPr>
        <p:txBody>
          <a:bodyPr wrap="square">
            <a:spAutoFit/>
          </a:bodyPr>
          <a:lstStyle/>
          <a:p>
            <a:pPr algn="just">
              <a:lnSpc>
                <a:spcPct val="150000"/>
              </a:lnSpc>
            </a:pPr>
            <a:r>
              <a:rPr lang="en-US" dirty="0">
                <a:solidFill>
                  <a:schemeClr val="tx1"/>
                </a:solidFill>
              </a:rPr>
              <a:t>Individuals </a:t>
            </a:r>
            <a:r>
              <a:rPr lang="en-US" dirty="0"/>
              <a:t>that cooperate by foraging, defending the nest, or caring for larvae increase the growth rate and survival of the colony.</a:t>
            </a:r>
          </a:p>
        </p:txBody>
      </p:sp>
    </p:spTree>
    <p:extLst>
      <p:ext uri="{BB962C8B-B14F-4D97-AF65-F5344CB8AC3E}">
        <p14:creationId xmlns:p14="http://schemas.microsoft.com/office/powerpoint/2010/main" val="2903672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3"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F65CA7-5346-1564-07A7-84D92C9672B7}"/>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7FE94E59-3DBD-3C1E-1407-8593148C1CDE}"/>
              </a:ext>
            </a:extLst>
          </p:cNvPr>
          <p:cNvPicPr>
            <a:picLocks noGrp="1" noRot="1" noMove="1" noResize="1" noEditPoints="1" noAdjustHandles="1" noChangeArrowheads="1" noChangeShapeType="1" noCrop="1"/>
          </p:cNvPicPr>
          <p:nvPr/>
        </p:nvPicPr>
        <p:blipFill>
          <a:blip r:embed="rId3"/>
          <a:srcRect t="20213"/>
          <a:stretch>
            <a:fillRect/>
          </a:stretch>
        </p:blipFill>
        <p:spPr>
          <a:xfrm>
            <a:off x="0" y="0"/>
            <a:ext cx="12192000" cy="6857989"/>
          </a:xfrm>
          <a:prstGeom prst="rect">
            <a:avLst/>
          </a:prstGeom>
        </p:spPr>
      </p:pic>
      <p:sp>
        <p:nvSpPr>
          <p:cNvPr id="5" name="Rectángulo 4">
            <a:extLst>
              <a:ext uri="{FF2B5EF4-FFF2-40B4-BE49-F238E27FC236}">
                <a16:creationId xmlns:a16="http://schemas.microsoft.com/office/drawing/2014/main" id="{DD10ABCB-3492-E069-2179-0F32390BB6EA}"/>
              </a:ext>
            </a:extLst>
          </p:cNvPr>
          <p:cNvSpPr>
            <a:spLocks noGrp="1" noRot="1" noMove="1" noResize="1" noEditPoints="1" noAdjustHandles="1" noChangeArrowheads="1" noChangeShapeType="1"/>
          </p:cNvSpPr>
          <p:nvPr/>
        </p:nvSpPr>
        <p:spPr>
          <a:xfrm>
            <a:off x="957072" y="697264"/>
            <a:ext cx="10198608" cy="98755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 name="Título 1">
            <a:extLst>
              <a:ext uri="{FF2B5EF4-FFF2-40B4-BE49-F238E27FC236}">
                <a16:creationId xmlns:a16="http://schemas.microsoft.com/office/drawing/2014/main" id="{5883DEDC-9A96-D4B1-C3C3-71C0F20FA7EE}"/>
              </a:ext>
            </a:extLst>
          </p:cNvPr>
          <p:cNvSpPr>
            <a:spLocks noGrp="1"/>
          </p:cNvSpPr>
          <p:nvPr>
            <p:ph type="title"/>
          </p:nvPr>
        </p:nvSpPr>
        <p:spPr>
          <a:xfrm>
            <a:off x="957071" y="765110"/>
            <a:ext cx="10127695" cy="790872"/>
          </a:xfrm>
        </p:spPr>
        <p:txBody>
          <a:bodyPr>
            <a:normAutofit/>
          </a:bodyPr>
          <a:lstStyle/>
          <a:p>
            <a:pPr algn="ctr"/>
            <a:r>
              <a:rPr lang="en-US" dirty="0">
                <a:solidFill>
                  <a:schemeClr val="tx1"/>
                </a:solidFill>
              </a:rPr>
              <a:t>General model</a:t>
            </a:r>
          </a:p>
        </p:txBody>
      </p:sp>
      <p:sp>
        <p:nvSpPr>
          <p:cNvPr id="6" name="Rectángulo 5">
            <a:extLst>
              <a:ext uri="{FF2B5EF4-FFF2-40B4-BE49-F238E27FC236}">
                <a16:creationId xmlns:a16="http://schemas.microsoft.com/office/drawing/2014/main" id="{B0CB7EDF-0E69-9F86-1446-4490A998C51B}"/>
              </a:ext>
            </a:extLst>
          </p:cNvPr>
          <p:cNvSpPr>
            <a:spLocks noGrp="1" noRot="1" noMove="1" noResize="1" noEditPoints="1" noAdjustHandles="1" noChangeArrowheads="1" noChangeShapeType="1"/>
          </p:cNvSpPr>
          <p:nvPr/>
        </p:nvSpPr>
        <p:spPr>
          <a:xfrm>
            <a:off x="957072" y="2023962"/>
            <a:ext cx="10198608" cy="4290709"/>
          </a:xfrm>
          <a:prstGeom prst="rect">
            <a:avLst/>
          </a:prstGeom>
          <a:solidFill>
            <a:schemeClr val="bg1">
              <a:lumMod val="95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Marcador de contenido 7">
            <a:extLst>
              <a:ext uri="{FF2B5EF4-FFF2-40B4-BE49-F238E27FC236}">
                <a16:creationId xmlns:a16="http://schemas.microsoft.com/office/drawing/2014/main" id="{83A2C195-009E-23CD-7A60-716FEDD71616}"/>
              </a:ext>
            </a:extLst>
          </p:cNvPr>
          <p:cNvSpPr>
            <a:spLocks noGrp="1"/>
          </p:cNvSpPr>
          <p:nvPr>
            <p:ph idx="1"/>
          </p:nvPr>
        </p:nvSpPr>
        <p:spPr>
          <a:xfrm>
            <a:off x="957071" y="2108110"/>
            <a:ext cx="10198609" cy="425964"/>
          </a:xfrm>
        </p:spPr>
        <p:txBody>
          <a:bodyPr>
            <a:normAutofit/>
          </a:bodyPr>
          <a:lstStyle/>
          <a:p>
            <a:pPr algn="ctr"/>
            <a:r>
              <a:rPr lang="en-US" sz="2400" dirty="0">
                <a:solidFill>
                  <a:schemeClr val="tx1"/>
                </a:solidFill>
                <a:latin typeface="+mj-lt"/>
              </a:rPr>
              <a:t>Birth-death dynamics</a:t>
            </a:r>
          </a:p>
        </p:txBody>
      </p:sp>
      <p:pic>
        <p:nvPicPr>
          <p:cNvPr id="9" name="Imagen 8">
            <a:extLst>
              <a:ext uri="{FF2B5EF4-FFF2-40B4-BE49-F238E27FC236}">
                <a16:creationId xmlns:a16="http://schemas.microsoft.com/office/drawing/2014/main" id="{D483363C-A0E1-364E-5689-F54E66667554}"/>
              </a:ext>
            </a:extLst>
          </p:cNvPr>
          <p:cNvPicPr>
            <a:picLocks noChangeAspect="1"/>
          </p:cNvPicPr>
          <p:nvPr/>
        </p:nvPicPr>
        <p:blipFill>
          <a:blip r:embed="rId4"/>
          <a:stretch>
            <a:fillRect/>
          </a:stretch>
        </p:blipFill>
        <p:spPr>
          <a:xfrm>
            <a:off x="8043612" y="853896"/>
            <a:ext cx="2938524" cy="626748"/>
          </a:xfrm>
          <a:prstGeom prst="rect">
            <a:avLst/>
          </a:prstGeom>
        </p:spPr>
      </p:pic>
      <p:pic>
        <p:nvPicPr>
          <p:cNvPr id="11" name="Imagen 10">
            <a:extLst>
              <a:ext uri="{FF2B5EF4-FFF2-40B4-BE49-F238E27FC236}">
                <a16:creationId xmlns:a16="http://schemas.microsoft.com/office/drawing/2014/main" id="{8F4AAE92-79E6-DA2B-E0E7-4ECB7772DCBF}"/>
              </a:ext>
            </a:extLst>
          </p:cNvPr>
          <p:cNvPicPr>
            <a:picLocks noChangeAspect="1"/>
          </p:cNvPicPr>
          <p:nvPr/>
        </p:nvPicPr>
        <p:blipFill>
          <a:blip r:embed="rId5"/>
          <a:stretch>
            <a:fillRect/>
          </a:stretch>
        </p:blipFill>
        <p:spPr>
          <a:xfrm>
            <a:off x="2129279" y="2977823"/>
            <a:ext cx="8561504" cy="902342"/>
          </a:xfrm>
          <a:prstGeom prst="rect">
            <a:avLst/>
          </a:prstGeom>
        </p:spPr>
      </p:pic>
      <p:pic>
        <p:nvPicPr>
          <p:cNvPr id="13" name="Imagen 12">
            <a:extLst>
              <a:ext uri="{FF2B5EF4-FFF2-40B4-BE49-F238E27FC236}">
                <a16:creationId xmlns:a16="http://schemas.microsoft.com/office/drawing/2014/main" id="{D7548E4F-109F-DBA4-EC90-9EE21329E7E5}"/>
              </a:ext>
            </a:extLst>
          </p:cNvPr>
          <p:cNvPicPr>
            <a:picLocks noChangeAspect="1"/>
          </p:cNvPicPr>
          <p:nvPr/>
        </p:nvPicPr>
        <p:blipFill>
          <a:blip r:embed="rId6"/>
          <a:stretch>
            <a:fillRect/>
          </a:stretch>
        </p:blipFill>
        <p:spPr>
          <a:xfrm>
            <a:off x="7653262" y="2164135"/>
            <a:ext cx="1157363" cy="307265"/>
          </a:xfrm>
          <a:prstGeom prst="rect">
            <a:avLst/>
          </a:prstGeom>
        </p:spPr>
      </p:pic>
      <p:pic>
        <p:nvPicPr>
          <p:cNvPr id="15" name="Imagen 14">
            <a:extLst>
              <a:ext uri="{FF2B5EF4-FFF2-40B4-BE49-F238E27FC236}">
                <a16:creationId xmlns:a16="http://schemas.microsoft.com/office/drawing/2014/main" id="{5021F6AD-9BE2-E200-CAB2-87A53735EEE0}"/>
              </a:ext>
            </a:extLst>
          </p:cNvPr>
          <p:cNvPicPr>
            <a:picLocks noChangeAspect="1"/>
          </p:cNvPicPr>
          <p:nvPr/>
        </p:nvPicPr>
        <p:blipFill>
          <a:blip r:embed="rId7"/>
          <a:stretch>
            <a:fillRect/>
          </a:stretch>
        </p:blipFill>
        <p:spPr>
          <a:xfrm>
            <a:off x="2666532" y="4404178"/>
            <a:ext cx="7486997" cy="693240"/>
          </a:xfrm>
          <a:prstGeom prst="rect">
            <a:avLst/>
          </a:prstGeom>
        </p:spPr>
      </p:pic>
    </p:spTree>
    <p:extLst>
      <p:ext uri="{BB962C8B-B14F-4D97-AF65-F5344CB8AC3E}">
        <p14:creationId xmlns:p14="http://schemas.microsoft.com/office/powerpoint/2010/main" val="4261196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3DAC5F-DDC4-D47A-356E-B9B3FD96C12C}"/>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68D569C9-FD9F-7896-37A5-1FEAC7835B87}"/>
              </a:ext>
            </a:extLst>
          </p:cNvPr>
          <p:cNvPicPr>
            <a:picLocks noGrp="1" noRot="1" noMove="1" noResize="1" noEditPoints="1" noAdjustHandles="1" noChangeArrowheads="1" noChangeShapeType="1" noCrop="1"/>
          </p:cNvPicPr>
          <p:nvPr/>
        </p:nvPicPr>
        <p:blipFill>
          <a:blip r:embed="rId3"/>
          <a:srcRect t="20213"/>
          <a:stretch>
            <a:fillRect/>
          </a:stretch>
        </p:blipFill>
        <p:spPr>
          <a:xfrm>
            <a:off x="0" y="0"/>
            <a:ext cx="12192000" cy="6857989"/>
          </a:xfrm>
          <a:prstGeom prst="rect">
            <a:avLst/>
          </a:prstGeom>
        </p:spPr>
      </p:pic>
      <p:sp>
        <p:nvSpPr>
          <p:cNvPr id="5" name="Rectángulo 4">
            <a:extLst>
              <a:ext uri="{FF2B5EF4-FFF2-40B4-BE49-F238E27FC236}">
                <a16:creationId xmlns:a16="http://schemas.microsoft.com/office/drawing/2014/main" id="{BBC5B0D8-F3E1-1C68-2C7F-AC7FAF8E2B7A}"/>
              </a:ext>
            </a:extLst>
          </p:cNvPr>
          <p:cNvSpPr>
            <a:spLocks noGrp="1" noRot="1" noMove="1" noResize="1" noEditPoints="1" noAdjustHandles="1" noChangeArrowheads="1" noChangeShapeType="1"/>
          </p:cNvSpPr>
          <p:nvPr/>
        </p:nvSpPr>
        <p:spPr>
          <a:xfrm>
            <a:off x="957072" y="697264"/>
            <a:ext cx="10198608" cy="98755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 name="Título 1">
            <a:extLst>
              <a:ext uri="{FF2B5EF4-FFF2-40B4-BE49-F238E27FC236}">
                <a16:creationId xmlns:a16="http://schemas.microsoft.com/office/drawing/2014/main" id="{5A882E6F-8348-055D-CFEE-202673CA78C3}"/>
              </a:ext>
            </a:extLst>
          </p:cNvPr>
          <p:cNvSpPr>
            <a:spLocks noGrp="1"/>
          </p:cNvSpPr>
          <p:nvPr>
            <p:ph type="title"/>
          </p:nvPr>
        </p:nvSpPr>
        <p:spPr>
          <a:xfrm>
            <a:off x="957071" y="765110"/>
            <a:ext cx="10127695" cy="790872"/>
          </a:xfrm>
        </p:spPr>
        <p:txBody>
          <a:bodyPr>
            <a:normAutofit/>
          </a:bodyPr>
          <a:lstStyle/>
          <a:p>
            <a:pPr algn="ctr"/>
            <a:r>
              <a:rPr lang="en-US" dirty="0">
                <a:solidFill>
                  <a:schemeClr val="tx1"/>
                </a:solidFill>
              </a:rPr>
              <a:t>General model</a:t>
            </a:r>
          </a:p>
        </p:txBody>
      </p:sp>
      <p:sp>
        <p:nvSpPr>
          <p:cNvPr id="6" name="Rectángulo 5">
            <a:extLst>
              <a:ext uri="{FF2B5EF4-FFF2-40B4-BE49-F238E27FC236}">
                <a16:creationId xmlns:a16="http://schemas.microsoft.com/office/drawing/2014/main" id="{38775178-9E90-5DFC-6423-A43A69119E08}"/>
              </a:ext>
            </a:extLst>
          </p:cNvPr>
          <p:cNvSpPr>
            <a:spLocks noGrp="1" noRot="1" noMove="1" noResize="1" noEditPoints="1" noAdjustHandles="1" noChangeArrowheads="1" noChangeShapeType="1"/>
          </p:cNvSpPr>
          <p:nvPr/>
        </p:nvSpPr>
        <p:spPr>
          <a:xfrm>
            <a:off x="957072" y="2023962"/>
            <a:ext cx="10198608" cy="4290709"/>
          </a:xfrm>
          <a:prstGeom prst="rect">
            <a:avLst/>
          </a:prstGeom>
          <a:solidFill>
            <a:schemeClr val="bg1">
              <a:lumMod val="95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Marcador de contenido 7">
            <a:extLst>
              <a:ext uri="{FF2B5EF4-FFF2-40B4-BE49-F238E27FC236}">
                <a16:creationId xmlns:a16="http://schemas.microsoft.com/office/drawing/2014/main" id="{9E014015-4109-2283-C820-060247D70835}"/>
              </a:ext>
            </a:extLst>
          </p:cNvPr>
          <p:cNvSpPr>
            <a:spLocks noGrp="1"/>
          </p:cNvSpPr>
          <p:nvPr>
            <p:ph idx="1"/>
          </p:nvPr>
        </p:nvSpPr>
        <p:spPr>
          <a:xfrm>
            <a:off x="957071" y="2108110"/>
            <a:ext cx="10198609" cy="425964"/>
          </a:xfrm>
        </p:spPr>
        <p:txBody>
          <a:bodyPr>
            <a:normAutofit/>
          </a:bodyPr>
          <a:lstStyle/>
          <a:p>
            <a:pPr algn="ctr"/>
            <a:r>
              <a:rPr lang="en-US" sz="2400" dirty="0">
                <a:solidFill>
                  <a:schemeClr val="tx1"/>
                </a:solidFill>
                <a:latin typeface="+mj-lt"/>
              </a:rPr>
              <a:t>Deterministic limit</a:t>
            </a:r>
          </a:p>
        </p:txBody>
      </p:sp>
      <p:pic>
        <p:nvPicPr>
          <p:cNvPr id="9" name="Imagen 8">
            <a:extLst>
              <a:ext uri="{FF2B5EF4-FFF2-40B4-BE49-F238E27FC236}">
                <a16:creationId xmlns:a16="http://schemas.microsoft.com/office/drawing/2014/main" id="{D8E07D1D-C9EC-52FC-3539-C6E1D9F3FB98}"/>
              </a:ext>
            </a:extLst>
          </p:cNvPr>
          <p:cNvPicPr>
            <a:picLocks noChangeAspect="1"/>
          </p:cNvPicPr>
          <p:nvPr/>
        </p:nvPicPr>
        <p:blipFill>
          <a:blip r:embed="rId4"/>
          <a:stretch>
            <a:fillRect/>
          </a:stretch>
        </p:blipFill>
        <p:spPr>
          <a:xfrm>
            <a:off x="3181349" y="3432746"/>
            <a:ext cx="6082155" cy="676811"/>
          </a:xfrm>
          <a:prstGeom prst="rect">
            <a:avLst/>
          </a:prstGeom>
        </p:spPr>
      </p:pic>
      <p:pic>
        <p:nvPicPr>
          <p:cNvPr id="11" name="Imagen 10">
            <a:extLst>
              <a:ext uri="{FF2B5EF4-FFF2-40B4-BE49-F238E27FC236}">
                <a16:creationId xmlns:a16="http://schemas.microsoft.com/office/drawing/2014/main" id="{5ECC1A27-6491-9AD1-48C7-29AF68A41AFF}"/>
              </a:ext>
            </a:extLst>
          </p:cNvPr>
          <p:cNvPicPr>
            <a:picLocks noChangeAspect="1"/>
          </p:cNvPicPr>
          <p:nvPr/>
        </p:nvPicPr>
        <p:blipFill>
          <a:blip r:embed="rId5"/>
          <a:stretch>
            <a:fillRect/>
          </a:stretch>
        </p:blipFill>
        <p:spPr>
          <a:xfrm>
            <a:off x="3878503" y="4444848"/>
            <a:ext cx="4671591" cy="370027"/>
          </a:xfrm>
          <a:prstGeom prst="rect">
            <a:avLst/>
          </a:prstGeom>
        </p:spPr>
      </p:pic>
      <p:pic>
        <p:nvPicPr>
          <p:cNvPr id="13" name="Imagen 12">
            <a:extLst>
              <a:ext uri="{FF2B5EF4-FFF2-40B4-BE49-F238E27FC236}">
                <a16:creationId xmlns:a16="http://schemas.microsoft.com/office/drawing/2014/main" id="{ED35169A-626E-4103-CD9B-B4391B41F803}"/>
              </a:ext>
            </a:extLst>
          </p:cNvPr>
          <p:cNvPicPr>
            <a:picLocks noChangeAspect="1"/>
          </p:cNvPicPr>
          <p:nvPr/>
        </p:nvPicPr>
        <p:blipFill>
          <a:blip r:embed="rId6"/>
          <a:stretch>
            <a:fillRect/>
          </a:stretch>
        </p:blipFill>
        <p:spPr>
          <a:xfrm>
            <a:off x="3046793" y="2740415"/>
            <a:ext cx="6335009" cy="433905"/>
          </a:xfrm>
          <a:prstGeom prst="rect">
            <a:avLst/>
          </a:prstGeom>
        </p:spPr>
      </p:pic>
      <p:pic>
        <p:nvPicPr>
          <p:cNvPr id="15" name="Imagen 14">
            <a:extLst>
              <a:ext uri="{FF2B5EF4-FFF2-40B4-BE49-F238E27FC236}">
                <a16:creationId xmlns:a16="http://schemas.microsoft.com/office/drawing/2014/main" id="{AA050236-4D50-B63A-D505-5A9E1115C62F}"/>
              </a:ext>
            </a:extLst>
          </p:cNvPr>
          <p:cNvPicPr>
            <a:picLocks noChangeAspect="1"/>
          </p:cNvPicPr>
          <p:nvPr/>
        </p:nvPicPr>
        <p:blipFill>
          <a:blip r:embed="rId7"/>
          <a:stretch>
            <a:fillRect/>
          </a:stretch>
        </p:blipFill>
        <p:spPr>
          <a:xfrm>
            <a:off x="2019490" y="5206552"/>
            <a:ext cx="8153020" cy="622952"/>
          </a:xfrm>
          <a:prstGeom prst="rect">
            <a:avLst/>
          </a:prstGeom>
        </p:spPr>
      </p:pic>
    </p:spTree>
    <p:extLst>
      <p:ext uri="{BB962C8B-B14F-4D97-AF65-F5344CB8AC3E}">
        <p14:creationId xmlns:p14="http://schemas.microsoft.com/office/powerpoint/2010/main" val="34259588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82279E-6A5F-2061-597D-14D2A10C23A7}"/>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2B9D0B61-A060-EDBE-3CEB-8CD56565FCF8}"/>
              </a:ext>
            </a:extLst>
          </p:cNvPr>
          <p:cNvPicPr>
            <a:picLocks noGrp="1" noRot="1" noMove="1" noResize="1" noEditPoints="1" noAdjustHandles="1" noChangeArrowheads="1" noChangeShapeType="1" noCrop="1"/>
          </p:cNvPicPr>
          <p:nvPr/>
        </p:nvPicPr>
        <p:blipFill>
          <a:blip r:embed="rId3"/>
          <a:srcRect t="20213"/>
          <a:stretch>
            <a:fillRect/>
          </a:stretch>
        </p:blipFill>
        <p:spPr>
          <a:xfrm>
            <a:off x="0" y="0"/>
            <a:ext cx="12192000" cy="6857989"/>
          </a:xfrm>
          <a:prstGeom prst="rect">
            <a:avLst/>
          </a:prstGeom>
        </p:spPr>
      </p:pic>
      <p:sp>
        <p:nvSpPr>
          <p:cNvPr id="5" name="Rectángulo 4">
            <a:extLst>
              <a:ext uri="{FF2B5EF4-FFF2-40B4-BE49-F238E27FC236}">
                <a16:creationId xmlns:a16="http://schemas.microsoft.com/office/drawing/2014/main" id="{9E541057-701D-3E0F-F532-3E5EEA65F8F0}"/>
              </a:ext>
            </a:extLst>
          </p:cNvPr>
          <p:cNvSpPr>
            <a:spLocks noGrp="1" noRot="1" noMove="1" noResize="1" noEditPoints="1" noAdjustHandles="1" noChangeArrowheads="1" noChangeShapeType="1"/>
          </p:cNvSpPr>
          <p:nvPr/>
        </p:nvSpPr>
        <p:spPr>
          <a:xfrm>
            <a:off x="957072" y="697264"/>
            <a:ext cx="10198608" cy="98755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 name="Título 1">
            <a:extLst>
              <a:ext uri="{FF2B5EF4-FFF2-40B4-BE49-F238E27FC236}">
                <a16:creationId xmlns:a16="http://schemas.microsoft.com/office/drawing/2014/main" id="{7780F709-5E90-75D7-9B41-2277DD001477}"/>
              </a:ext>
            </a:extLst>
          </p:cNvPr>
          <p:cNvSpPr>
            <a:spLocks noGrp="1"/>
          </p:cNvSpPr>
          <p:nvPr>
            <p:ph type="title"/>
          </p:nvPr>
        </p:nvSpPr>
        <p:spPr>
          <a:xfrm>
            <a:off x="957071" y="765110"/>
            <a:ext cx="10127695" cy="790872"/>
          </a:xfrm>
        </p:spPr>
        <p:txBody>
          <a:bodyPr>
            <a:normAutofit/>
          </a:bodyPr>
          <a:lstStyle/>
          <a:p>
            <a:pPr algn="ctr"/>
            <a:r>
              <a:rPr lang="en-US" dirty="0">
                <a:solidFill>
                  <a:schemeClr val="tx1"/>
                </a:solidFill>
              </a:rPr>
              <a:t>Prisoner’s dilemma game</a:t>
            </a:r>
          </a:p>
        </p:txBody>
      </p:sp>
      <p:sp>
        <p:nvSpPr>
          <p:cNvPr id="6" name="Rectángulo 5">
            <a:extLst>
              <a:ext uri="{FF2B5EF4-FFF2-40B4-BE49-F238E27FC236}">
                <a16:creationId xmlns:a16="http://schemas.microsoft.com/office/drawing/2014/main" id="{8374B620-591F-6E66-6BAC-3848568AFC60}"/>
              </a:ext>
            </a:extLst>
          </p:cNvPr>
          <p:cNvSpPr>
            <a:spLocks noGrp="1" noRot="1" noMove="1" noResize="1" noEditPoints="1" noAdjustHandles="1" noChangeArrowheads="1" noChangeShapeType="1"/>
          </p:cNvSpPr>
          <p:nvPr/>
        </p:nvSpPr>
        <p:spPr>
          <a:xfrm>
            <a:off x="957072" y="2023962"/>
            <a:ext cx="10198608" cy="4290709"/>
          </a:xfrm>
          <a:prstGeom prst="rect">
            <a:avLst/>
          </a:prstGeom>
          <a:solidFill>
            <a:schemeClr val="bg1">
              <a:lumMod val="95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Imagen 6">
            <a:extLst>
              <a:ext uri="{FF2B5EF4-FFF2-40B4-BE49-F238E27FC236}">
                <a16:creationId xmlns:a16="http://schemas.microsoft.com/office/drawing/2014/main" id="{543CF807-46B1-0958-3EA0-86A85642C5B6}"/>
              </a:ext>
            </a:extLst>
          </p:cNvPr>
          <p:cNvPicPr>
            <a:picLocks noChangeAspect="1"/>
          </p:cNvPicPr>
          <p:nvPr/>
        </p:nvPicPr>
        <p:blipFill>
          <a:blip r:embed="rId4"/>
          <a:stretch>
            <a:fillRect/>
          </a:stretch>
        </p:blipFill>
        <p:spPr>
          <a:xfrm>
            <a:off x="2723687" y="3016408"/>
            <a:ext cx="1871955" cy="1247970"/>
          </a:xfrm>
          <a:prstGeom prst="rect">
            <a:avLst/>
          </a:prstGeom>
        </p:spPr>
      </p:pic>
      <p:pic>
        <p:nvPicPr>
          <p:cNvPr id="10" name="Imagen 9">
            <a:extLst>
              <a:ext uri="{FF2B5EF4-FFF2-40B4-BE49-F238E27FC236}">
                <a16:creationId xmlns:a16="http://schemas.microsoft.com/office/drawing/2014/main" id="{DCF414BB-101B-6F3F-17F4-69F661985806}"/>
              </a:ext>
            </a:extLst>
          </p:cNvPr>
          <p:cNvPicPr>
            <a:picLocks noChangeAspect="1"/>
          </p:cNvPicPr>
          <p:nvPr/>
        </p:nvPicPr>
        <p:blipFill>
          <a:blip r:embed="rId5"/>
          <a:stretch>
            <a:fillRect/>
          </a:stretch>
        </p:blipFill>
        <p:spPr>
          <a:xfrm>
            <a:off x="6679364" y="2987729"/>
            <a:ext cx="3514999" cy="1305327"/>
          </a:xfrm>
          <a:prstGeom prst="rect">
            <a:avLst/>
          </a:prstGeom>
        </p:spPr>
      </p:pic>
      <p:pic>
        <p:nvPicPr>
          <p:cNvPr id="12" name="Imagen 11">
            <a:extLst>
              <a:ext uri="{FF2B5EF4-FFF2-40B4-BE49-F238E27FC236}">
                <a16:creationId xmlns:a16="http://schemas.microsoft.com/office/drawing/2014/main" id="{294036E2-EE99-16E0-135D-A4F94F9D7B7C}"/>
              </a:ext>
            </a:extLst>
          </p:cNvPr>
          <p:cNvPicPr>
            <a:picLocks noChangeAspect="1"/>
          </p:cNvPicPr>
          <p:nvPr/>
        </p:nvPicPr>
        <p:blipFill>
          <a:blip r:embed="rId6"/>
          <a:stretch>
            <a:fillRect/>
          </a:stretch>
        </p:blipFill>
        <p:spPr>
          <a:xfrm>
            <a:off x="7068315" y="4632202"/>
            <a:ext cx="2819794" cy="362001"/>
          </a:xfrm>
          <a:prstGeom prst="rect">
            <a:avLst/>
          </a:prstGeom>
        </p:spPr>
      </p:pic>
      <p:pic>
        <p:nvPicPr>
          <p:cNvPr id="14" name="Imagen 13">
            <a:extLst>
              <a:ext uri="{FF2B5EF4-FFF2-40B4-BE49-F238E27FC236}">
                <a16:creationId xmlns:a16="http://schemas.microsoft.com/office/drawing/2014/main" id="{46CCAC8D-0A3A-20EC-8443-5C9B1A25B32C}"/>
              </a:ext>
            </a:extLst>
          </p:cNvPr>
          <p:cNvPicPr>
            <a:picLocks noChangeAspect="1"/>
          </p:cNvPicPr>
          <p:nvPr/>
        </p:nvPicPr>
        <p:blipFill>
          <a:blip r:embed="rId7"/>
          <a:stretch>
            <a:fillRect/>
          </a:stretch>
        </p:blipFill>
        <p:spPr>
          <a:xfrm>
            <a:off x="2654622" y="4454484"/>
            <a:ext cx="2469065" cy="1002794"/>
          </a:xfrm>
          <a:prstGeom prst="rect">
            <a:avLst/>
          </a:prstGeom>
        </p:spPr>
      </p:pic>
      <p:pic>
        <p:nvPicPr>
          <p:cNvPr id="8" name="Imagen 7">
            <a:extLst>
              <a:ext uri="{FF2B5EF4-FFF2-40B4-BE49-F238E27FC236}">
                <a16:creationId xmlns:a16="http://schemas.microsoft.com/office/drawing/2014/main" id="{553BE334-4F7C-F20F-9822-EC30A15C21FD}"/>
              </a:ext>
            </a:extLst>
          </p:cNvPr>
          <p:cNvPicPr>
            <a:picLocks noChangeAspect="1"/>
          </p:cNvPicPr>
          <p:nvPr/>
        </p:nvPicPr>
        <p:blipFill>
          <a:blip r:embed="rId8"/>
          <a:stretch>
            <a:fillRect/>
          </a:stretch>
        </p:blipFill>
        <p:spPr>
          <a:xfrm>
            <a:off x="1128127" y="2168797"/>
            <a:ext cx="1453528" cy="575022"/>
          </a:xfrm>
          <a:prstGeom prst="rect">
            <a:avLst/>
          </a:prstGeom>
        </p:spPr>
      </p:pic>
      <p:pic>
        <p:nvPicPr>
          <p:cNvPr id="11" name="Imagen 10">
            <a:extLst>
              <a:ext uri="{FF2B5EF4-FFF2-40B4-BE49-F238E27FC236}">
                <a16:creationId xmlns:a16="http://schemas.microsoft.com/office/drawing/2014/main" id="{27F69892-3D55-6B57-45F8-9D5A130025AD}"/>
              </a:ext>
            </a:extLst>
          </p:cNvPr>
          <p:cNvPicPr>
            <a:picLocks noChangeAspect="1"/>
          </p:cNvPicPr>
          <p:nvPr/>
        </p:nvPicPr>
        <p:blipFill>
          <a:blip r:embed="rId9"/>
          <a:srcRect l="13376" t="-7402"/>
          <a:stretch>
            <a:fillRect/>
          </a:stretch>
        </p:blipFill>
        <p:spPr>
          <a:xfrm>
            <a:off x="3118104" y="2118567"/>
            <a:ext cx="7813921" cy="284950"/>
          </a:xfrm>
          <a:prstGeom prst="rect">
            <a:avLst/>
          </a:prstGeom>
        </p:spPr>
      </p:pic>
      <p:cxnSp>
        <p:nvCxnSpPr>
          <p:cNvPr id="15" name="Conector recto de flecha 14">
            <a:extLst>
              <a:ext uri="{FF2B5EF4-FFF2-40B4-BE49-F238E27FC236}">
                <a16:creationId xmlns:a16="http://schemas.microsoft.com/office/drawing/2014/main" id="{1B91AE1C-6E10-1C9D-F16F-BF6665164B0B}"/>
              </a:ext>
            </a:extLst>
          </p:cNvPr>
          <p:cNvCxnSpPr/>
          <p:nvPr/>
        </p:nvCxnSpPr>
        <p:spPr>
          <a:xfrm>
            <a:off x="2581655" y="2276856"/>
            <a:ext cx="44500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 name="CuadroTexto 2">
            <a:extLst>
              <a:ext uri="{FF2B5EF4-FFF2-40B4-BE49-F238E27FC236}">
                <a16:creationId xmlns:a16="http://schemas.microsoft.com/office/drawing/2014/main" id="{8F2DCF7D-DA33-322D-012E-3A0AC8A75CA3}"/>
              </a:ext>
            </a:extLst>
          </p:cNvPr>
          <p:cNvSpPr txBox="1"/>
          <p:nvPr/>
        </p:nvSpPr>
        <p:spPr>
          <a:xfrm>
            <a:off x="7068315" y="4955881"/>
            <a:ext cx="3004873" cy="506292"/>
          </a:xfrm>
          <a:prstGeom prst="rect">
            <a:avLst/>
          </a:prstGeom>
          <a:noFill/>
        </p:spPr>
        <p:txBody>
          <a:bodyPr wrap="square">
            <a:spAutoFit/>
          </a:bodyPr>
          <a:lstStyle/>
          <a:p>
            <a:pPr algn="just">
              <a:lnSpc>
                <a:spcPct val="150000"/>
              </a:lnSpc>
            </a:pPr>
            <a:r>
              <a:rPr lang="en-US" sz="2000" dirty="0">
                <a:solidFill>
                  <a:schemeClr val="tx1"/>
                </a:solidFill>
              </a:rPr>
              <a:t>Defectors have advantage</a:t>
            </a:r>
            <a:endParaRPr lang="en-US" sz="2000" dirty="0"/>
          </a:p>
        </p:txBody>
      </p:sp>
    </p:spTree>
    <p:extLst>
      <p:ext uri="{BB962C8B-B14F-4D97-AF65-F5344CB8AC3E}">
        <p14:creationId xmlns:p14="http://schemas.microsoft.com/office/powerpoint/2010/main" val="2091853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E43A6E-39A6-B8DB-75D2-048E1B5A838F}"/>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1BA1F4D8-4498-F748-3D0D-B7A2A4766F3E}"/>
              </a:ext>
            </a:extLst>
          </p:cNvPr>
          <p:cNvPicPr>
            <a:picLocks noGrp="1" noRot="1" noMove="1" noResize="1" noEditPoints="1" noAdjustHandles="1" noChangeArrowheads="1" noChangeShapeType="1" noCrop="1"/>
          </p:cNvPicPr>
          <p:nvPr/>
        </p:nvPicPr>
        <p:blipFill>
          <a:blip r:embed="rId3"/>
          <a:srcRect t="20213"/>
          <a:stretch>
            <a:fillRect/>
          </a:stretch>
        </p:blipFill>
        <p:spPr>
          <a:xfrm>
            <a:off x="0" y="0"/>
            <a:ext cx="12192000" cy="6857989"/>
          </a:xfrm>
          <a:prstGeom prst="rect">
            <a:avLst/>
          </a:prstGeom>
        </p:spPr>
      </p:pic>
      <p:sp>
        <p:nvSpPr>
          <p:cNvPr id="5" name="Rectángulo 4">
            <a:extLst>
              <a:ext uri="{FF2B5EF4-FFF2-40B4-BE49-F238E27FC236}">
                <a16:creationId xmlns:a16="http://schemas.microsoft.com/office/drawing/2014/main" id="{BEB74515-047D-FCD6-3726-2DC0D5C736A6}"/>
              </a:ext>
            </a:extLst>
          </p:cNvPr>
          <p:cNvSpPr>
            <a:spLocks noGrp="1" noRot="1" noMove="1" noResize="1" noEditPoints="1" noAdjustHandles="1" noChangeArrowheads="1" noChangeShapeType="1"/>
          </p:cNvSpPr>
          <p:nvPr/>
        </p:nvSpPr>
        <p:spPr>
          <a:xfrm>
            <a:off x="957072" y="697264"/>
            <a:ext cx="10198608" cy="98755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 name="Título 1">
            <a:extLst>
              <a:ext uri="{FF2B5EF4-FFF2-40B4-BE49-F238E27FC236}">
                <a16:creationId xmlns:a16="http://schemas.microsoft.com/office/drawing/2014/main" id="{94F6F8D6-66EA-D62C-F3E8-F7C2CD1FF7E2}"/>
              </a:ext>
            </a:extLst>
          </p:cNvPr>
          <p:cNvSpPr>
            <a:spLocks noGrp="1"/>
          </p:cNvSpPr>
          <p:nvPr>
            <p:ph type="title"/>
          </p:nvPr>
        </p:nvSpPr>
        <p:spPr>
          <a:xfrm>
            <a:off x="957071" y="765110"/>
            <a:ext cx="10127695" cy="790872"/>
          </a:xfrm>
        </p:spPr>
        <p:txBody>
          <a:bodyPr>
            <a:normAutofit/>
          </a:bodyPr>
          <a:lstStyle/>
          <a:p>
            <a:pPr algn="ctr"/>
            <a:r>
              <a:rPr lang="en-US" dirty="0">
                <a:solidFill>
                  <a:schemeClr val="tx1"/>
                </a:solidFill>
              </a:rPr>
              <a:t>Model modification </a:t>
            </a:r>
          </a:p>
        </p:txBody>
      </p:sp>
      <p:sp>
        <p:nvSpPr>
          <p:cNvPr id="6" name="Rectángulo 5">
            <a:extLst>
              <a:ext uri="{FF2B5EF4-FFF2-40B4-BE49-F238E27FC236}">
                <a16:creationId xmlns:a16="http://schemas.microsoft.com/office/drawing/2014/main" id="{84D306BB-D856-7A31-C351-36F2973314A0}"/>
              </a:ext>
            </a:extLst>
          </p:cNvPr>
          <p:cNvSpPr>
            <a:spLocks noGrp="1" noRot="1" noMove="1" noResize="1" noEditPoints="1" noAdjustHandles="1" noChangeArrowheads="1" noChangeShapeType="1"/>
          </p:cNvSpPr>
          <p:nvPr/>
        </p:nvSpPr>
        <p:spPr>
          <a:xfrm>
            <a:off x="957072" y="2023962"/>
            <a:ext cx="10198608" cy="4290709"/>
          </a:xfrm>
          <a:prstGeom prst="rect">
            <a:avLst/>
          </a:prstGeom>
          <a:solidFill>
            <a:schemeClr val="bg1">
              <a:lumMod val="95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Imagen 11">
            <a:extLst>
              <a:ext uri="{FF2B5EF4-FFF2-40B4-BE49-F238E27FC236}">
                <a16:creationId xmlns:a16="http://schemas.microsoft.com/office/drawing/2014/main" id="{E318D6E0-C0F1-AC2D-33D2-A70FFADCE2DD}"/>
              </a:ext>
            </a:extLst>
          </p:cNvPr>
          <p:cNvPicPr>
            <a:picLocks noChangeAspect="1"/>
          </p:cNvPicPr>
          <p:nvPr/>
        </p:nvPicPr>
        <p:blipFill>
          <a:blip r:embed="rId4"/>
          <a:stretch>
            <a:fillRect/>
          </a:stretch>
        </p:blipFill>
        <p:spPr>
          <a:xfrm>
            <a:off x="5213181" y="3527927"/>
            <a:ext cx="2627127" cy="1075480"/>
          </a:xfrm>
          <a:prstGeom prst="rect">
            <a:avLst/>
          </a:prstGeom>
        </p:spPr>
      </p:pic>
      <p:pic>
        <p:nvPicPr>
          <p:cNvPr id="7" name="Imagen 6">
            <a:extLst>
              <a:ext uri="{FF2B5EF4-FFF2-40B4-BE49-F238E27FC236}">
                <a16:creationId xmlns:a16="http://schemas.microsoft.com/office/drawing/2014/main" id="{FA116629-93D1-0667-945A-941012840C6B}"/>
              </a:ext>
            </a:extLst>
          </p:cNvPr>
          <p:cNvPicPr>
            <a:picLocks noChangeAspect="1"/>
          </p:cNvPicPr>
          <p:nvPr/>
        </p:nvPicPr>
        <p:blipFill>
          <a:blip r:embed="rId5"/>
          <a:stretch>
            <a:fillRect/>
          </a:stretch>
        </p:blipFill>
        <p:spPr>
          <a:xfrm>
            <a:off x="1214019" y="3428994"/>
            <a:ext cx="3048425" cy="1287837"/>
          </a:xfrm>
          <a:prstGeom prst="rect">
            <a:avLst/>
          </a:prstGeom>
        </p:spPr>
      </p:pic>
      <p:sp>
        <p:nvSpPr>
          <p:cNvPr id="3" name="Marcador de contenido 7">
            <a:extLst>
              <a:ext uri="{FF2B5EF4-FFF2-40B4-BE49-F238E27FC236}">
                <a16:creationId xmlns:a16="http://schemas.microsoft.com/office/drawing/2014/main" id="{1E4423A4-9AB5-16FD-0D4D-2FCD66362483}"/>
              </a:ext>
            </a:extLst>
          </p:cNvPr>
          <p:cNvSpPr>
            <a:spLocks noGrp="1"/>
          </p:cNvSpPr>
          <p:nvPr>
            <p:ph idx="1"/>
          </p:nvPr>
        </p:nvSpPr>
        <p:spPr>
          <a:xfrm>
            <a:off x="4892040" y="2896864"/>
            <a:ext cx="3438144" cy="425964"/>
          </a:xfrm>
        </p:spPr>
        <p:txBody>
          <a:bodyPr>
            <a:normAutofit/>
          </a:bodyPr>
          <a:lstStyle/>
          <a:p>
            <a:pPr algn="ctr"/>
            <a:r>
              <a:rPr lang="en-US" sz="2400" dirty="0">
                <a:solidFill>
                  <a:schemeClr val="tx1"/>
                </a:solidFill>
                <a:latin typeface="+mj-lt"/>
              </a:rPr>
              <a:t>Deterministic eq.</a:t>
            </a:r>
          </a:p>
        </p:txBody>
      </p:sp>
      <p:cxnSp>
        <p:nvCxnSpPr>
          <p:cNvPr id="8" name="Conector recto de flecha 7">
            <a:extLst>
              <a:ext uri="{FF2B5EF4-FFF2-40B4-BE49-F238E27FC236}">
                <a16:creationId xmlns:a16="http://schemas.microsoft.com/office/drawing/2014/main" id="{AD9517B9-5DA5-7C6F-B42A-B613EAA3CA96}"/>
              </a:ext>
            </a:extLst>
          </p:cNvPr>
          <p:cNvCxnSpPr/>
          <p:nvPr/>
        </p:nvCxnSpPr>
        <p:spPr>
          <a:xfrm>
            <a:off x="4396036" y="4063880"/>
            <a:ext cx="44500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Abrir llave 8">
            <a:extLst>
              <a:ext uri="{FF2B5EF4-FFF2-40B4-BE49-F238E27FC236}">
                <a16:creationId xmlns:a16="http://schemas.microsoft.com/office/drawing/2014/main" id="{CF562E5E-8E40-2700-E3E0-86C5528477B2}"/>
              </a:ext>
            </a:extLst>
          </p:cNvPr>
          <p:cNvSpPr/>
          <p:nvPr/>
        </p:nvSpPr>
        <p:spPr>
          <a:xfrm>
            <a:off x="4902217" y="3497428"/>
            <a:ext cx="317299" cy="1117482"/>
          </a:xfrm>
          <a:prstGeom prst="leftBrace">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10" name="CuadroTexto 9">
                <a:extLst>
                  <a:ext uri="{FF2B5EF4-FFF2-40B4-BE49-F238E27FC236}">
                    <a16:creationId xmlns:a16="http://schemas.microsoft.com/office/drawing/2014/main" id="{BBF40E13-0C20-C32A-E1FB-0994C80C19DC}"/>
                  </a:ext>
                </a:extLst>
              </p:cNvPr>
              <p:cNvSpPr txBox="1"/>
              <p:nvPr/>
            </p:nvSpPr>
            <p:spPr>
              <a:xfrm>
                <a:off x="7840308" y="3355947"/>
                <a:ext cx="4219690" cy="505523"/>
              </a:xfrm>
              <a:prstGeom prst="rect">
                <a:avLst/>
              </a:prstGeom>
              <a:noFill/>
            </p:spPr>
            <p:txBody>
              <a:bodyPr wrap="square">
                <a:spAutoFit/>
              </a:bodyPr>
              <a:lstStyle/>
              <a:p>
                <a:pPr algn="just">
                  <a:lnSpc>
                    <a:spcPct val="150000"/>
                  </a:lnSpc>
                </a:pPr>
                <a14:m>
                  <m:oMath xmlns:m="http://schemas.openxmlformats.org/officeDocument/2006/math">
                    <m:r>
                      <a:rPr lang="es-ES" sz="2000" b="0" i="1" smtClean="0">
                        <a:latin typeface="Cambria Math" panose="02040503050406030204" pitchFamily="18" charset="0"/>
                      </a:rPr>
                      <m:t>&lt;0</m:t>
                    </m:r>
                  </m:oMath>
                </a14:m>
                <a:r>
                  <a:rPr lang="en-US" sz="2000" dirty="0"/>
                  <a:t> Defectors have advantage</a:t>
                </a:r>
              </a:p>
            </p:txBody>
          </p:sp>
        </mc:Choice>
        <mc:Fallback>
          <p:sp>
            <p:nvSpPr>
              <p:cNvPr id="10" name="CuadroTexto 9">
                <a:extLst>
                  <a:ext uri="{FF2B5EF4-FFF2-40B4-BE49-F238E27FC236}">
                    <a16:creationId xmlns:a16="http://schemas.microsoft.com/office/drawing/2014/main" id="{BBF40E13-0C20-C32A-E1FB-0994C80C19DC}"/>
                  </a:ext>
                </a:extLst>
              </p:cNvPr>
              <p:cNvSpPr txBox="1">
                <a:spLocks noRot="1" noChangeAspect="1" noMove="1" noResize="1" noEditPoints="1" noAdjustHandles="1" noChangeArrowheads="1" noChangeShapeType="1" noTextEdit="1"/>
              </p:cNvSpPr>
              <p:nvPr/>
            </p:nvSpPr>
            <p:spPr>
              <a:xfrm>
                <a:off x="7840308" y="3355947"/>
                <a:ext cx="4219690" cy="505523"/>
              </a:xfrm>
              <a:prstGeom prst="rect">
                <a:avLst/>
              </a:prstGeom>
              <a:blipFill>
                <a:blip r:embed="rId6"/>
                <a:stretch>
                  <a:fillRect b="-2195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 name="CuadroTexto 10">
                <a:extLst>
                  <a:ext uri="{FF2B5EF4-FFF2-40B4-BE49-F238E27FC236}">
                    <a16:creationId xmlns:a16="http://schemas.microsoft.com/office/drawing/2014/main" id="{D7C5E266-79F2-819D-203A-E393CD5B7935}"/>
                  </a:ext>
                </a:extLst>
              </p:cNvPr>
              <p:cNvSpPr txBox="1"/>
              <p:nvPr/>
            </p:nvSpPr>
            <p:spPr>
              <a:xfrm>
                <a:off x="7840308" y="3889974"/>
                <a:ext cx="4272444" cy="505523"/>
              </a:xfrm>
              <a:prstGeom prst="rect">
                <a:avLst/>
              </a:prstGeom>
              <a:noFill/>
            </p:spPr>
            <p:txBody>
              <a:bodyPr wrap="square">
                <a:spAutoFit/>
              </a:bodyPr>
              <a:lstStyle/>
              <a:p>
                <a:pPr algn="just">
                  <a:lnSpc>
                    <a:spcPct val="150000"/>
                  </a:lnSpc>
                </a:pPr>
                <a14:m>
                  <m:oMath xmlns:m="http://schemas.openxmlformats.org/officeDocument/2006/math">
                    <m:r>
                      <a:rPr lang="en-US" sz="2000" i="1" smtClean="0">
                        <a:latin typeface="Cambria Math" panose="02040503050406030204" pitchFamily="18" charset="0"/>
                        <a:ea typeface="Cambria Math" panose="02040503050406030204" pitchFamily="18" charset="0"/>
                      </a:rPr>
                      <m:t>∝</m:t>
                    </m:r>
                    <m:r>
                      <a:rPr lang="es-ES" sz="2000" b="0" i="1" smtClean="0">
                        <a:latin typeface="Cambria Math" panose="02040503050406030204" pitchFamily="18" charset="0"/>
                        <a:ea typeface="Cambria Math" panose="02040503050406030204" pitchFamily="18" charset="0"/>
                      </a:rPr>
                      <m:t>𝑥</m:t>
                    </m:r>
                  </m:oMath>
                </a14:m>
                <a:r>
                  <a:rPr lang="en-US" sz="2000" dirty="0"/>
                  <a:t> Overshoot?</a:t>
                </a:r>
              </a:p>
            </p:txBody>
          </p:sp>
        </mc:Choice>
        <mc:Fallback>
          <p:sp>
            <p:nvSpPr>
              <p:cNvPr id="11" name="CuadroTexto 10">
                <a:extLst>
                  <a:ext uri="{FF2B5EF4-FFF2-40B4-BE49-F238E27FC236}">
                    <a16:creationId xmlns:a16="http://schemas.microsoft.com/office/drawing/2014/main" id="{D7C5E266-79F2-819D-203A-E393CD5B7935}"/>
                  </a:ext>
                </a:extLst>
              </p:cNvPr>
              <p:cNvSpPr txBox="1">
                <a:spLocks noRot="1" noChangeAspect="1" noMove="1" noResize="1" noEditPoints="1" noAdjustHandles="1" noChangeArrowheads="1" noChangeShapeType="1" noTextEdit="1"/>
              </p:cNvSpPr>
              <p:nvPr/>
            </p:nvSpPr>
            <p:spPr>
              <a:xfrm>
                <a:off x="7840308" y="3889974"/>
                <a:ext cx="4272444" cy="505523"/>
              </a:xfrm>
              <a:prstGeom prst="rect">
                <a:avLst/>
              </a:prstGeom>
              <a:blipFill>
                <a:blip r:embed="rId7"/>
                <a:stretch>
                  <a:fillRect b="-20482"/>
                </a:stretch>
              </a:blipFill>
            </p:spPr>
            <p:txBody>
              <a:bodyPr/>
              <a:lstStyle/>
              <a:p>
                <a:r>
                  <a:rPr lang="en-US">
                    <a:noFill/>
                  </a:rPr>
                  <a:t> </a:t>
                </a:r>
              </a:p>
            </p:txBody>
          </p:sp>
        </mc:Fallback>
      </mc:AlternateContent>
      <p:pic>
        <p:nvPicPr>
          <p:cNvPr id="15" name="Imagen 14">
            <a:extLst>
              <a:ext uri="{FF2B5EF4-FFF2-40B4-BE49-F238E27FC236}">
                <a16:creationId xmlns:a16="http://schemas.microsoft.com/office/drawing/2014/main" id="{A722539C-53EC-4920-92AA-FFF10B272DDE}"/>
              </a:ext>
            </a:extLst>
          </p:cNvPr>
          <p:cNvPicPr>
            <a:picLocks noChangeAspect="1"/>
          </p:cNvPicPr>
          <p:nvPr/>
        </p:nvPicPr>
        <p:blipFill>
          <a:blip r:embed="rId8"/>
          <a:stretch>
            <a:fillRect/>
          </a:stretch>
        </p:blipFill>
        <p:spPr>
          <a:xfrm>
            <a:off x="4698847" y="5097126"/>
            <a:ext cx="2794305" cy="723826"/>
          </a:xfrm>
          <a:prstGeom prst="rect">
            <a:avLst/>
          </a:prstGeom>
        </p:spPr>
      </p:pic>
    </p:spTree>
    <p:extLst>
      <p:ext uri="{BB962C8B-B14F-4D97-AF65-F5344CB8AC3E}">
        <p14:creationId xmlns:p14="http://schemas.microsoft.com/office/powerpoint/2010/main" val="1873599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9" grpId="0" animBg="1"/>
      <p:bldP spid="10" grpId="0"/>
      <p:bldP spid="11"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E520F7-D480-2274-2F41-D8C21F9EB86A}"/>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C4DD6B6A-AB3C-0CAA-BFDB-DAD5D371551E}"/>
              </a:ext>
            </a:extLst>
          </p:cNvPr>
          <p:cNvPicPr>
            <a:picLocks noGrp="1" noRot="1" noMove="1" noResize="1" noEditPoints="1" noAdjustHandles="1" noChangeArrowheads="1" noChangeShapeType="1" noCrop="1"/>
          </p:cNvPicPr>
          <p:nvPr/>
        </p:nvPicPr>
        <p:blipFill>
          <a:blip r:embed="rId2"/>
          <a:srcRect t="20213"/>
          <a:stretch>
            <a:fillRect/>
          </a:stretch>
        </p:blipFill>
        <p:spPr>
          <a:xfrm>
            <a:off x="0" y="0"/>
            <a:ext cx="12192000" cy="6857989"/>
          </a:xfrm>
          <a:prstGeom prst="rect">
            <a:avLst/>
          </a:prstGeom>
        </p:spPr>
      </p:pic>
      <p:sp>
        <p:nvSpPr>
          <p:cNvPr id="5" name="Rectángulo 4">
            <a:extLst>
              <a:ext uri="{FF2B5EF4-FFF2-40B4-BE49-F238E27FC236}">
                <a16:creationId xmlns:a16="http://schemas.microsoft.com/office/drawing/2014/main" id="{E8705B96-DD40-B15A-02E6-B2157A4E2588}"/>
              </a:ext>
            </a:extLst>
          </p:cNvPr>
          <p:cNvSpPr>
            <a:spLocks noGrp="1" noRot="1" noMove="1" noResize="1" noEditPoints="1" noAdjustHandles="1" noChangeArrowheads="1" noChangeShapeType="1"/>
          </p:cNvSpPr>
          <p:nvPr/>
        </p:nvSpPr>
        <p:spPr>
          <a:xfrm>
            <a:off x="957072" y="697264"/>
            <a:ext cx="10198608" cy="98755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 name="Título 1">
            <a:extLst>
              <a:ext uri="{FF2B5EF4-FFF2-40B4-BE49-F238E27FC236}">
                <a16:creationId xmlns:a16="http://schemas.microsoft.com/office/drawing/2014/main" id="{57C2DA98-3B97-E3E0-C1E9-59F101B9B018}"/>
              </a:ext>
            </a:extLst>
          </p:cNvPr>
          <p:cNvSpPr>
            <a:spLocks noGrp="1"/>
          </p:cNvSpPr>
          <p:nvPr>
            <p:ph type="title"/>
          </p:nvPr>
        </p:nvSpPr>
        <p:spPr>
          <a:xfrm>
            <a:off x="957071" y="765110"/>
            <a:ext cx="10198608" cy="790872"/>
          </a:xfrm>
        </p:spPr>
        <p:txBody>
          <a:bodyPr>
            <a:normAutofit/>
          </a:bodyPr>
          <a:lstStyle/>
          <a:p>
            <a:pPr algn="ctr"/>
            <a:r>
              <a:rPr lang="en-US" dirty="0">
                <a:solidFill>
                  <a:schemeClr val="tx1"/>
                </a:solidFill>
              </a:rPr>
              <a:t>Average population dynamics</a:t>
            </a:r>
          </a:p>
        </p:txBody>
      </p:sp>
      <p:sp>
        <p:nvSpPr>
          <p:cNvPr id="6" name="Rectángulo 5">
            <a:extLst>
              <a:ext uri="{FF2B5EF4-FFF2-40B4-BE49-F238E27FC236}">
                <a16:creationId xmlns:a16="http://schemas.microsoft.com/office/drawing/2014/main" id="{316A1117-1B51-3DF8-73FF-AC517166173D}"/>
              </a:ext>
            </a:extLst>
          </p:cNvPr>
          <p:cNvSpPr>
            <a:spLocks noGrp="1" noRot="1" noMove="1" noResize="1" noEditPoints="1" noAdjustHandles="1" noChangeArrowheads="1" noChangeShapeType="1"/>
          </p:cNvSpPr>
          <p:nvPr/>
        </p:nvSpPr>
        <p:spPr>
          <a:xfrm>
            <a:off x="6736076" y="4558168"/>
            <a:ext cx="4737231" cy="1717241"/>
          </a:xfrm>
          <a:prstGeom prst="rect">
            <a:avLst/>
          </a:prstGeom>
          <a:solidFill>
            <a:schemeClr val="bg1">
              <a:lumMod val="95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lnSpc>
                <a:spcPct val="150000"/>
              </a:lnSpc>
            </a:pPr>
            <a:endParaRPr lang="en-US" dirty="0">
              <a:solidFill>
                <a:schemeClr val="tx1"/>
              </a:solidFill>
            </a:endParaRPr>
          </a:p>
        </p:txBody>
      </p:sp>
      <p:pic>
        <p:nvPicPr>
          <p:cNvPr id="7" name="Marcador de contenido 6">
            <a:extLst>
              <a:ext uri="{FF2B5EF4-FFF2-40B4-BE49-F238E27FC236}">
                <a16:creationId xmlns:a16="http://schemas.microsoft.com/office/drawing/2014/main" id="{578E9287-B729-3243-E061-FB8DBECAA469}"/>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t="9260"/>
          <a:stretch>
            <a:fillRect/>
          </a:stretch>
        </p:blipFill>
        <p:spPr>
          <a:xfrm>
            <a:off x="495300" y="1913538"/>
            <a:ext cx="6035933" cy="4361871"/>
          </a:xfrm>
          <a:prstGeom prst="rect">
            <a:avLst/>
          </a:prstGeom>
        </p:spPr>
      </p:pic>
      <p:pic>
        <p:nvPicPr>
          <p:cNvPr id="10" name="Imagen 9">
            <a:extLst>
              <a:ext uri="{FF2B5EF4-FFF2-40B4-BE49-F238E27FC236}">
                <a16:creationId xmlns:a16="http://schemas.microsoft.com/office/drawing/2014/main" id="{DB6A651C-6D2D-9A99-1C7A-FFFC9C928C6F}"/>
              </a:ext>
            </a:extLst>
          </p:cNvPr>
          <p:cNvPicPr>
            <a:picLocks noChangeAspect="1"/>
          </p:cNvPicPr>
          <p:nvPr/>
        </p:nvPicPr>
        <p:blipFill>
          <a:blip r:embed="rId4">
            <a:extLst>
              <a:ext uri="{28A0092B-C50C-407E-A947-70E740481C1C}">
                <a14:useLocalDpi xmlns:a14="http://schemas.microsoft.com/office/drawing/2010/main" val="0"/>
              </a:ext>
            </a:extLst>
          </a:blip>
          <a:srcRect t="8678" r="1495"/>
          <a:stretch>
            <a:fillRect/>
          </a:stretch>
        </p:blipFill>
        <p:spPr>
          <a:xfrm>
            <a:off x="6736076" y="1909559"/>
            <a:ext cx="4737231" cy="2509591"/>
          </a:xfrm>
          <a:prstGeom prst="rect">
            <a:avLst/>
          </a:prstGeom>
        </p:spPr>
      </p:pic>
      <p:sp>
        <p:nvSpPr>
          <p:cNvPr id="3" name="CuadroTexto 2">
            <a:extLst>
              <a:ext uri="{FF2B5EF4-FFF2-40B4-BE49-F238E27FC236}">
                <a16:creationId xmlns:a16="http://schemas.microsoft.com/office/drawing/2014/main" id="{27366390-38D7-2815-8579-6A23B55D0A85}"/>
              </a:ext>
            </a:extLst>
          </p:cNvPr>
          <p:cNvSpPr txBox="1"/>
          <p:nvPr/>
        </p:nvSpPr>
        <p:spPr>
          <a:xfrm>
            <a:off x="6736076" y="4448585"/>
            <a:ext cx="4726133" cy="1295868"/>
          </a:xfrm>
          <a:prstGeom prst="rect">
            <a:avLst/>
          </a:prstGeom>
          <a:noFill/>
        </p:spPr>
        <p:txBody>
          <a:bodyPr wrap="square">
            <a:spAutoFit/>
          </a:bodyPr>
          <a:lstStyle/>
          <a:p>
            <a:pPr algn="just">
              <a:lnSpc>
                <a:spcPct val="150000"/>
              </a:lnSpc>
            </a:pPr>
            <a:r>
              <a:rPr lang="en-US" dirty="0"/>
              <a:t>(Fig1) Overshoot in N: When the initial fraction of cooperators is large enough, the population first grows. Then, selection reduces it.</a:t>
            </a:r>
          </a:p>
        </p:txBody>
      </p:sp>
      <mc:AlternateContent xmlns:mc="http://schemas.openxmlformats.org/markup-compatibility/2006">
        <mc:Choice xmlns:a14="http://schemas.microsoft.com/office/drawing/2010/main" Requires="a14">
          <p:sp>
            <p:nvSpPr>
              <p:cNvPr id="8" name="CuadroTexto 7">
                <a:extLst>
                  <a:ext uri="{FF2B5EF4-FFF2-40B4-BE49-F238E27FC236}">
                    <a16:creationId xmlns:a16="http://schemas.microsoft.com/office/drawing/2014/main" id="{FC70A29E-102A-422F-EB52-41D5B229B3DC}"/>
                  </a:ext>
                </a:extLst>
              </p:cNvPr>
              <p:cNvSpPr txBox="1"/>
              <p:nvPr/>
            </p:nvSpPr>
            <p:spPr>
              <a:xfrm>
                <a:off x="6752723" y="5744453"/>
                <a:ext cx="4726133" cy="464166"/>
              </a:xfrm>
              <a:prstGeom prst="rect">
                <a:avLst/>
              </a:prstGeom>
              <a:noFill/>
            </p:spPr>
            <p:txBody>
              <a:bodyPr wrap="square">
                <a:spAutoFit/>
              </a:bodyPr>
              <a:lstStyle/>
              <a:p>
                <a:pPr algn="just">
                  <a:lnSpc>
                    <a:spcPct val="150000"/>
                  </a:lnSpc>
                </a:pPr>
                <a:r>
                  <a:rPr lang="en-US" dirty="0"/>
                  <a:t>(Fig2) Smaller </a:t>
                </a:r>
                <a14:m>
                  <m:oMath xmlns:m="http://schemas.openxmlformats.org/officeDocument/2006/math">
                    <m:sSub>
                      <m:sSubPr>
                        <m:ctrlPr>
                          <a:rPr lang="es-ES" b="0" i="1" smtClean="0">
                            <a:latin typeface="Cambria Math" panose="02040503050406030204" pitchFamily="18" charset="0"/>
                          </a:rPr>
                        </m:ctrlPr>
                      </m:sSubPr>
                      <m:e>
                        <m:r>
                          <a:rPr lang="es-ES" b="0" i="1" smtClean="0">
                            <a:latin typeface="Cambria Math" panose="02040503050406030204" pitchFamily="18" charset="0"/>
                          </a:rPr>
                          <m:t>𝑁</m:t>
                        </m:r>
                      </m:e>
                      <m:sub>
                        <m:r>
                          <a:rPr lang="es-ES" b="0" i="1" smtClean="0">
                            <a:latin typeface="Cambria Math" panose="02040503050406030204" pitchFamily="18" charset="0"/>
                          </a:rPr>
                          <m:t>0</m:t>
                        </m:r>
                      </m:sub>
                    </m:sSub>
                  </m:oMath>
                </a14:m>
                <a:r>
                  <a:rPr lang="en-US" dirty="0"/>
                  <a:t> are the more affected.</a:t>
                </a:r>
              </a:p>
            </p:txBody>
          </p:sp>
        </mc:Choice>
        <mc:Fallback>
          <p:sp>
            <p:nvSpPr>
              <p:cNvPr id="8" name="CuadroTexto 7">
                <a:extLst>
                  <a:ext uri="{FF2B5EF4-FFF2-40B4-BE49-F238E27FC236}">
                    <a16:creationId xmlns:a16="http://schemas.microsoft.com/office/drawing/2014/main" id="{FC70A29E-102A-422F-EB52-41D5B229B3DC}"/>
                  </a:ext>
                </a:extLst>
              </p:cNvPr>
              <p:cNvSpPr txBox="1">
                <a:spLocks noRot="1" noChangeAspect="1" noMove="1" noResize="1" noEditPoints="1" noAdjustHandles="1" noChangeArrowheads="1" noChangeShapeType="1" noTextEdit="1"/>
              </p:cNvSpPr>
              <p:nvPr/>
            </p:nvSpPr>
            <p:spPr>
              <a:xfrm>
                <a:off x="6752723" y="5744453"/>
                <a:ext cx="4726133" cy="464166"/>
              </a:xfrm>
              <a:prstGeom prst="rect">
                <a:avLst/>
              </a:prstGeom>
              <a:blipFill>
                <a:blip r:embed="rId5"/>
                <a:stretch>
                  <a:fillRect l="-1161" b="-21053"/>
                </a:stretch>
              </a:blipFill>
            </p:spPr>
            <p:txBody>
              <a:bodyPr/>
              <a:lstStyle/>
              <a:p>
                <a:r>
                  <a:rPr lang="en-US">
                    <a:noFill/>
                  </a:rPr>
                  <a:t> </a:t>
                </a:r>
              </a:p>
            </p:txBody>
          </p:sp>
        </mc:Fallback>
      </mc:AlternateContent>
      <p:pic>
        <p:nvPicPr>
          <p:cNvPr id="9" name="Imagen 8">
            <a:extLst>
              <a:ext uri="{FF2B5EF4-FFF2-40B4-BE49-F238E27FC236}">
                <a16:creationId xmlns:a16="http://schemas.microsoft.com/office/drawing/2014/main" id="{09E52593-27C3-2172-CBC9-EE5A81E83001}"/>
              </a:ext>
            </a:extLst>
          </p:cNvPr>
          <p:cNvPicPr>
            <a:picLocks noChangeAspect="1"/>
          </p:cNvPicPr>
          <p:nvPr/>
        </p:nvPicPr>
        <p:blipFill>
          <a:blip r:embed="rId6"/>
          <a:srcRect t="32189"/>
          <a:stretch>
            <a:fillRect/>
          </a:stretch>
        </p:blipFill>
        <p:spPr>
          <a:xfrm>
            <a:off x="4289676" y="5284533"/>
            <a:ext cx="1941790" cy="539047"/>
          </a:xfrm>
          <a:prstGeom prst="rect">
            <a:avLst/>
          </a:prstGeom>
        </p:spPr>
      </p:pic>
    </p:spTree>
    <p:extLst>
      <p:ext uri="{BB962C8B-B14F-4D97-AF65-F5344CB8AC3E}">
        <p14:creationId xmlns:p14="http://schemas.microsoft.com/office/powerpoint/2010/main" val="40281279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E64321-4B15-3850-F29A-B33B86300433}"/>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ABC02677-5F41-BEC5-2431-97EAC4FD5191}"/>
              </a:ext>
            </a:extLst>
          </p:cNvPr>
          <p:cNvPicPr>
            <a:picLocks noGrp="1" noRot="1" noMove="1" noResize="1" noEditPoints="1" noAdjustHandles="1" noChangeArrowheads="1" noChangeShapeType="1" noCrop="1"/>
          </p:cNvPicPr>
          <p:nvPr/>
        </p:nvPicPr>
        <p:blipFill>
          <a:blip r:embed="rId2"/>
          <a:srcRect t="20213"/>
          <a:stretch>
            <a:fillRect/>
          </a:stretch>
        </p:blipFill>
        <p:spPr>
          <a:xfrm>
            <a:off x="0" y="0"/>
            <a:ext cx="12192000" cy="6857989"/>
          </a:xfrm>
          <a:prstGeom prst="rect">
            <a:avLst/>
          </a:prstGeom>
        </p:spPr>
      </p:pic>
      <p:sp>
        <p:nvSpPr>
          <p:cNvPr id="5" name="Rectángulo 4">
            <a:extLst>
              <a:ext uri="{FF2B5EF4-FFF2-40B4-BE49-F238E27FC236}">
                <a16:creationId xmlns:a16="http://schemas.microsoft.com/office/drawing/2014/main" id="{25142038-557E-9F0A-744B-82C18EE5F79F}"/>
              </a:ext>
            </a:extLst>
          </p:cNvPr>
          <p:cNvSpPr>
            <a:spLocks noGrp="1" noRot="1" noMove="1" noResize="1" noEditPoints="1" noAdjustHandles="1" noChangeArrowheads="1" noChangeShapeType="1"/>
          </p:cNvSpPr>
          <p:nvPr/>
        </p:nvSpPr>
        <p:spPr>
          <a:xfrm>
            <a:off x="957072" y="697264"/>
            <a:ext cx="10198608" cy="98755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 name="Título 1">
            <a:extLst>
              <a:ext uri="{FF2B5EF4-FFF2-40B4-BE49-F238E27FC236}">
                <a16:creationId xmlns:a16="http://schemas.microsoft.com/office/drawing/2014/main" id="{AF4D7738-840D-8FD6-0E6D-09414AEEFA84}"/>
              </a:ext>
            </a:extLst>
          </p:cNvPr>
          <p:cNvSpPr>
            <a:spLocks noGrp="1"/>
          </p:cNvSpPr>
          <p:nvPr>
            <p:ph type="title"/>
          </p:nvPr>
        </p:nvSpPr>
        <p:spPr>
          <a:xfrm>
            <a:off x="957071" y="765110"/>
            <a:ext cx="10198608" cy="790872"/>
          </a:xfrm>
        </p:spPr>
        <p:txBody>
          <a:bodyPr>
            <a:normAutofit/>
          </a:bodyPr>
          <a:lstStyle/>
          <a:p>
            <a:pPr algn="ctr"/>
            <a:r>
              <a:rPr lang="en-US" dirty="0">
                <a:solidFill>
                  <a:schemeClr val="tx1"/>
                </a:solidFill>
              </a:rPr>
              <a:t>Average population dynamics</a:t>
            </a:r>
          </a:p>
        </p:txBody>
      </p:sp>
      <p:sp>
        <p:nvSpPr>
          <p:cNvPr id="6" name="Rectángulo 5">
            <a:extLst>
              <a:ext uri="{FF2B5EF4-FFF2-40B4-BE49-F238E27FC236}">
                <a16:creationId xmlns:a16="http://schemas.microsoft.com/office/drawing/2014/main" id="{6370BFE7-2814-06E2-C8D0-57F631E5C05B}"/>
              </a:ext>
            </a:extLst>
          </p:cNvPr>
          <p:cNvSpPr>
            <a:spLocks noGrp="1" noRot="1" noMove="1" noResize="1" noEditPoints="1" noAdjustHandles="1" noChangeArrowheads="1" noChangeShapeType="1"/>
          </p:cNvSpPr>
          <p:nvPr/>
        </p:nvSpPr>
        <p:spPr>
          <a:xfrm>
            <a:off x="6736076" y="4558168"/>
            <a:ext cx="4737231" cy="1717241"/>
          </a:xfrm>
          <a:prstGeom prst="rect">
            <a:avLst/>
          </a:prstGeom>
          <a:solidFill>
            <a:schemeClr val="bg1">
              <a:lumMod val="95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lnSpc>
                <a:spcPct val="150000"/>
              </a:lnSpc>
            </a:pPr>
            <a:endParaRPr lang="en-US" dirty="0">
              <a:solidFill>
                <a:schemeClr val="tx1"/>
              </a:solidFill>
            </a:endParaRPr>
          </a:p>
        </p:txBody>
      </p:sp>
      <p:pic>
        <p:nvPicPr>
          <p:cNvPr id="7" name="Marcador de contenido 6">
            <a:extLst>
              <a:ext uri="{FF2B5EF4-FFF2-40B4-BE49-F238E27FC236}">
                <a16:creationId xmlns:a16="http://schemas.microsoft.com/office/drawing/2014/main" id="{FD938F26-FEF3-F41E-9D33-FFF7115520E1}"/>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t="9260"/>
          <a:stretch>
            <a:fillRect/>
          </a:stretch>
        </p:blipFill>
        <p:spPr>
          <a:xfrm>
            <a:off x="495300" y="1913538"/>
            <a:ext cx="6035933" cy="4361871"/>
          </a:xfrm>
          <a:prstGeom prst="rect">
            <a:avLst/>
          </a:prstGeom>
        </p:spPr>
      </p:pic>
      <p:pic>
        <p:nvPicPr>
          <p:cNvPr id="10" name="Imagen 9">
            <a:extLst>
              <a:ext uri="{FF2B5EF4-FFF2-40B4-BE49-F238E27FC236}">
                <a16:creationId xmlns:a16="http://schemas.microsoft.com/office/drawing/2014/main" id="{5B738891-961D-4174-DE36-F88025799E44}"/>
              </a:ext>
            </a:extLst>
          </p:cNvPr>
          <p:cNvPicPr>
            <a:picLocks noChangeAspect="1"/>
          </p:cNvPicPr>
          <p:nvPr/>
        </p:nvPicPr>
        <p:blipFill>
          <a:blip r:embed="rId4">
            <a:extLst>
              <a:ext uri="{28A0092B-C50C-407E-A947-70E740481C1C}">
                <a14:useLocalDpi xmlns:a14="http://schemas.microsoft.com/office/drawing/2010/main" val="0"/>
              </a:ext>
            </a:extLst>
          </a:blip>
          <a:srcRect t="8678" r="1495"/>
          <a:stretch>
            <a:fillRect/>
          </a:stretch>
        </p:blipFill>
        <p:spPr>
          <a:xfrm>
            <a:off x="6736076" y="1909559"/>
            <a:ext cx="4737231" cy="2509591"/>
          </a:xfrm>
          <a:prstGeom prst="rect">
            <a:avLst/>
          </a:prstGeom>
        </p:spPr>
      </p:pic>
      <p:sp>
        <p:nvSpPr>
          <p:cNvPr id="3" name="CuadroTexto 2">
            <a:extLst>
              <a:ext uri="{FF2B5EF4-FFF2-40B4-BE49-F238E27FC236}">
                <a16:creationId xmlns:a16="http://schemas.microsoft.com/office/drawing/2014/main" id="{B768B8C1-04AC-22CD-246C-8CBAC3A0C2AE}"/>
              </a:ext>
            </a:extLst>
          </p:cNvPr>
          <p:cNvSpPr txBox="1"/>
          <p:nvPr/>
        </p:nvSpPr>
        <p:spPr>
          <a:xfrm>
            <a:off x="6747174" y="4469718"/>
            <a:ext cx="4726133" cy="1711366"/>
          </a:xfrm>
          <a:prstGeom prst="rect">
            <a:avLst/>
          </a:prstGeom>
          <a:noFill/>
        </p:spPr>
        <p:txBody>
          <a:bodyPr wrap="square">
            <a:spAutoFit/>
          </a:bodyPr>
          <a:lstStyle/>
          <a:p>
            <a:pPr algn="just">
              <a:lnSpc>
                <a:spcPct val="150000"/>
              </a:lnSpc>
            </a:pPr>
            <a:r>
              <a:rPr lang="en-US" dirty="0"/>
              <a:t>Overshoot is captured both stochastically and deterministically, indicating that this effect mainly follows from the coupling between population growth and internal composition.</a:t>
            </a:r>
          </a:p>
        </p:txBody>
      </p:sp>
    </p:spTree>
    <p:extLst>
      <p:ext uri="{BB962C8B-B14F-4D97-AF65-F5344CB8AC3E}">
        <p14:creationId xmlns:p14="http://schemas.microsoft.com/office/powerpoint/2010/main" val="32122931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22314-F5AC-F900-700C-362CBDA18946}"/>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DAB1FD75-4613-030E-3499-D564E2C4AC30}"/>
              </a:ext>
            </a:extLst>
          </p:cNvPr>
          <p:cNvPicPr>
            <a:picLocks noGrp="1" noRot="1" noMove="1" noResize="1" noEditPoints="1" noAdjustHandles="1" noChangeArrowheads="1" noChangeShapeType="1" noCrop="1"/>
          </p:cNvPicPr>
          <p:nvPr/>
        </p:nvPicPr>
        <p:blipFill>
          <a:blip r:embed="rId3"/>
          <a:srcRect t="20213"/>
          <a:stretch>
            <a:fillRect/>
          </a:stretch>
        </p:blipFill>
        <p:spPr>
          <a:xfrm>
            <a:off x="0" y="0"/>
            <a:ext cx="12192000" cy="6857989"/>
          </a:xfrm>
          <a:prstGeom prst="rect">
            <a:avLst/>
          </a:prstGeom>
        </p:spPr>
      </p:pic>
      <p:sp>
        <p:nvSpPr>
          <p:cNvPr id="5" name="Rectángulo 4">
            <a:extLst>
              <a:ext uri="{FF2B5EF4-FFF2-40B4-BE49-F238E27FC236}">
                <a16:creationId xmlns:a16="http://schemas.microsoft.com/office/drawing/2014/main" id="{100724C4-8F00-1861-6AA8-40C6F1316BBC}"/>
              </a:ext>
            </a:extLst>
          </p:cNvPr>
          <p:cNvSpPr>
            <a:spLocks noGrp="1" noRot="1" noMove="1" noResize="1" noEditPoints="1" noAdjustHandles="1" noChangeArrowheads="1" noChangeShapeType="1"/>
          </p:cNvSpPr>
          <p:nvPr/>
        </p:nvSpPr>
        <p:spPr>
          <a:xfrm>
            <a:off x="957072" y="697264"/>
            <a:ext cx="10198608" cy="98755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 name="Título 1">
            <a:extLst>
              <a:ext uri="{FF2B5EF4-FFF2-40B4-BE49-F238E27FC236}">
                <a16:creationId xmlns:a16="http://schemas.microsoft.com/office/drawing/2014/main" id="{09DB2206-4E91-293F-8469-936FCC8DFFF0}"/>
              </a:ext>
            </a:extLst>
          </p:cNvPr>
          <p:cNvSpPr>
            <a:spLocks noGrp="1"/>
          </p:cNvSpPr>
          <p:nvPr>
            <p:ph type="title"/>
          </p:nvPr>
        </p:nvSpPr>
        <p:spPr>
          <a:xfrm>
            <a:off x="957071" y="765110"/>
            <a:ext cx="10127695" cy="790872"/>
          </a:xfrm>
        </p:spPr>
        <p:txBody>
          <a:bodyPr>
            <a:normAutofit/>
          </a:bodyPr>
          <a:lstStyle/>
          <a:p>
            <a:pPr algn="ctr"/>
            <a:r>
              <a:rPr lang="en-US" dirty="0">
                <a:solidFill>
                  <a:schemeClr val="tx1"/>
                </a:solidFill>
              </a:rPr>
              <a:t>Average cooperator fraction dynamics</a:t>
            </a:r>
          </a:p>
        </p:txBody>
      </p:sp>
      <p:sp>
        <p:nvSpPr>
          <p:cNvPr id="6" name="Rectángulo 5">
            <a:extLst>
              <a:ext uri="{FF2B5EF4-FFF2-40B4-BE49-F238E27FC236}">
                <a16:creationId xmlns:a16="http://schemas.microsoft.com/office/drawing/2014/main" id="{454AA9CF-42D1-8575-3ADB-390B5173792D}"/>
              </a:ext>
            </a:extLst>
          </p:cNvPr>
          <p:cNvSpPr>
            <a:spLocks noGrp="1" noRot="1" noMove="1" noResize="1" noEditPoints="1" noAdjustHandles="1" noChangeArrowheads="1" noChangeShapeType="1"/>
          </p:cNvSpPr>
          <p:nvPr/>
        </p:nvSpPr>
        <p:spPr>
          <a:xfrm>
            <a:off x="7172324" y="2023962"/>
            <a:ext cx="4314825" cy="4290709"/>
          </a:xfrm>
          <a:prstGeom prst="rect">
            <a:avLst/>
          </a:prstGeom>
          <a:solidFill>
            <a:schemeClr val="bg1">
              <a:lumMod val="95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Marcador de contenido 6">
            <a:extLst>
              <a:ext uri="{FF2B5EF4-FFF2-40B4-BE49-F238E27FC236}">
                <a16:creationId xmlns:a16="http://schemas.microsoft.com/office/drawing/2014/main" id="{52C97C4D-4A41-DFDB-4B64-CA799C04B2D0}"/>
              </a:ext>
            </a:extLst>
          </p:cNvPr>
          <p:cNvPicPr>
            <a:picLocks noGrp="1" noChangeAspect="1"/>
          </p:cNvPicPr>
          <p:nvPr>
            <p:ph idx="1"/>
          </p:nvPr>
        </p:nvPicPr>
        <p:blipFill>
          <a:blip r:embed="rId4">
            <a:extLst>
              <a:ext uri="{28A0092B-C50C-407E-A947-70E740481C1C}">
                <a14:useLocalDpi xmlns:a14="http://schemas.microsoft.com/office/drawing/2010/main" val="0"/>
              </a:ext>
            </a:extLst>
          </a:blip>
          <a:srcRect t="9083" b="-1"/>
          <a:stretch>
            <a:fillRect/>
          </a:stretch>
        </p:blipFill>
        <p:spPr>
          <a:xfrm>
            <a:off x="614356" y="2506614"/>
            <a:ext cx="6400813" cy="3325403"/>
          </a:xfrm>
          <a:prstGeom prst="rect">
            <a:avLst/>
          </a:prstGeom>
        </p:spPr>
      </p:pic>
      <p:pic>
        <p:nvPicPr>
          <p:cNvPr id="3" name="Imagen 2">
            <a:extLst>
              <a:ext uri="{FF2B5EF4-FFF2-40B4-BE49-F238E27FC236}">
                <a16:creationId xmlns:a16="http://schemas.microsoft.com/office/drawing/2014/main" id="{331CF9D1-874A-43E4-C355-5579F5BF63BC}"/>
              </a:ext>
            </a:extLst>
          </p:cNvPr>
          <p:cNvPicPr>
            <a:picLocks noChangeAspect="1"/>
          </p:cNvPicPr>
          <p:nvPr/>
        </p:nvPicPr>
        <p:blipFill>
          <a:blip r:embed="rId5"/>
          <a:srcRect l="5345" t="211" r="4135" b="67250"/>
          <a:stretch>
            <a:fillRect/>
          </a:stretch>
        </p:blipFill>
        <p:spPr>
          <a:xfrm>
            <a:off x="9685867" y="2559637"/>
            <a:ext cx="1787440" cy="263033"/>
          </a:xfrm>
          <a:prstGeom prst="rect">
            <a:avLst/>
          </a:prstGeom>
        </p:spPr>
      </p:pic>
      <mc:AlternateContent xmlns:mc="http://schemas.openxmlformats.org/markup-compatibility/2006">
        <mc:Choice xmlns:a14="http://schemas.microsoft.com/office/drawing/2010/main" Requires="a14">
          <p:sp>
            <p:nvSpPr>
              <p:cNvPr id="8" name="CuadroTexto 7">
                <a:extLst>
                  <a:ext uri="{FF2B5EF4-FFF2-40B4-BE49-F238E27FC236}">
                    <a16:creationId xmlns:a16="http://schemas.microsoft.com/office/drawing/2014/main" id="{CDEBAA40-ECAA-528D-8375-39C33353AEAE}"/>
                  </a:ext>
                </a:extLst>
              </p:cNvPr>
              <p:cNvSpPr txBox="1"/>
              <p:nvPr/>
            </p:nvSpPr>
            <p:spPr>
              <a:xfrm>
                <a:off x="7193087" y="3394061"/>
                <a:ext cx="4300983" cy="2126864"/>
              </a:xfrm>
              <a:prstGeom prst="rect">
                <a:avLst/>
              </a:prstGeom>
              <a:noFill/>
            </p:spPr>
            <p:txBody>
              <a:bodyPr wrap="square">
                <a:spAutoFit/>
              </a:bodyPr>
              <a:lstStyle/>
              <a:p>
                <a:pPr algn="just">
                  <a:lnSpc>
                    <a:spcPct val="150000"/>
                  </a:lnSpc>
                </a:pPr>
                <a:r>
                  <a:rPr lang="en-US" dirty="0"/>
                  <a:t>Transient increase in </a:t>
                </a:r>
                <a14:m>
                  <m:oMath xmlns:m="http://schemas.openxmlformats.org/officeDocument/2006/math">
                    <m:r>
                      <a:rPr lang="es-ES" b="0" i="1" smtClean="0">
                        <a:latin typeface="Cambria Math" panose="02040503050406030204" pitchFamily="18" charset="0"/>
                      </a:rPr>
                      <m:t>𝑥</m:t>
                    </m:r>
                  </m:oMath>
                </a14:m>
                <a:r>
                  <a:rPr lang="en-US" dirty="0"/>
                  <a:t>, especially for small </a:t>
                </a:r>
                <a14:m>
                  <m:oMath xmlns:m="http://schemas.openxmlformats.org/officeDocument/2006/math">
                    <m:sSub>
                      <m:sSubPr>
                        <m:ctrlPr>
                          <a:rPr lang="es-ES" b="0" i="1" smtClean="0">
                            <a:latin typeface="Cambria Math" panose="02040503050406030204" pitchFamily="18" charset="0"/>
                          </a:rPr>
                        </m:ctrlPr>
                      </m:sSubPr>
                      <m:e>
                        <m:r>
                          <a:rPr lang="es-ES" b="0" i="1" smtClean="0">
                            <a:latin typeface="Cambria Math" panose="02040503050406030204" pitchFamily="18" charset="0"/>
                          </a:rPr>
                          <m:t>𝑁</m:t>
                        </m:r>
                      </m:e>
                      <m:sub>
                        <m:r>
                          <a:rPr lang="es-ES" b="0" i="1" smtClean="0">
                            <a:latin typeface="Cambria Math" panose="02040503050406030204" pitchFamily="18" charset="0"/>
                          </a:rPr>
                          <m:t>0</m:t>
                        </m:r>
                      </m:sub>
                    </m:sSub>
                  </m:oMath>
                </a14:m>
                <a:r>
                  <a:rPr lang="en-US" dirty="0"/>
                  <a:t>. Some realizations contain, by chance, a larger fraction of cooperators, and these populations grow faster because cooperation enhances global growth.</a:t>
                </a:r>
              </a:p>
            </p:txBody>
          </p:sp>
        </mc:Choice>
        <mc:Fallback>
          <p:sp>
            <p:nvSpPr>
              <p:cNvPr id="8" name="CuadroTexto 7">
                <a:extLst>
                  <a:ext uri="{FF2B5EF4-FFF2-40B4-BE49-F238E27FC236}">
                    <a16:creationId xmlns:a16="http://schemas.microsoft.com/office/drawing/2014/main" id="{CDEBAA40-ECAA-528D-8375-39C33353AEAE}"/>
                  </a:ext>
                </a:extLst>
              </p:cNvPr>
              <p:cNvSpPr txBox="1">
                <a:spLocks noRot="1" noChangeAspect="1" noMove="1" noResize="1" noEditPoints="1" noAdjustHandles="1" noChangeArrowheads="1" noChangeShapeType="1" noTextEdit="1"/>
              </p:cNvSpPr>
              <p:nvPr/>
            </p:nvSpPr>
            <p:spPr>
              <a:xfrm>
                <a:off x="7193087" y="3394061"/>
                <a:ext cx="4300983" cy="2126864"/>
              </a:xfrm>
              <a:prstGeom prst="rect">
                <a:avLst/>
              </a:prstGeom>
              <a:blipFill>
                <a:blip r:embed="rId6"/>
                <a:stretch>
                  <a:fillRect l="-1275" r="-1133" b="-372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CuadroTexto 8">
                <a:extLst>
                  <a:ext uri="{FF2B5EF4-FFF2-40B4-BE49-F238E27FC236}">
                    <a16:creationId xmlns:a16="http://schemas.microsoft.com/office/drawing/2014/main" id="{B283F3AC-4052-42A9-73F8-C1FAA4828496}"/>
                  </a:ext>
                </a:extLst>
              </p:cNvPr>
              <p:cNvSpPr txBox="1"/>
              <p:nvPr/>
            </p:nvSpPr>
            <p:spPr>
              <a:xfrm>
                <a:off x="7276661" y="5599581"/>
                <a:ext cx="4300983" cy="464871"/>
              </a:xfrm>
              <a:prstGeom prst="rect">
                <a:avLst/>
              </a:prstGeom>
              <a:noFill/>
            </p:spPr>
            <p:txBody>
              <a:bodyPr wrap="square">
                <a:spAutoFit/>
              </a:bodyPr>
              <a:lstStyle/>
              <a:p>
                <a:pPr algn="ctr">
                  <a:lnSpc>
                    <a:spcPct val="150000"/>
                  </a:lnSpc>
                </a:pPr>
                <a:r>
                  <a:rPr lang="en-US" dirty="0"/>
                  <a:t>Cooperation time </a:t>
                </a:r>
                <a14:m>
                  <m:oMath xmlns:m="http://schemas.openxmlformats.org/officeDocument/2006/math">
                    <m:sSub>
                      <m:sSubPr>
                        <m:ctrlPr>
                          <a:rPr lang="es-ES" b="0" i="1" smtClean="0">
                            <a:latin typeface="Cambria Math" panose="02040503050406030204" pitchFamily="18" charset="0"/>
                          </a:rPr>
                        </m:ctrlPr>
                      </m:sSubPr>
                      <m:e>
                        <m:r>
                          <a:rPr lang="es-ES" b="0" i="1" smtClean="0">
                            <a:latin typeface="Cambria Math" panose="02040503050406030204" pitchFamily="18" charset="0"/>
                          </a:rPr>
                          <m:t>𝑡</m:t>
                        </m:r>
                      </m:e>
                      <m:sub>
                        <m:r>
                          <a:rPr lang="es-ES" b="0" i="1" smtClean="0">
                            <a:latin typeface="Cambria Math" panose="02040503050406030204" pitchFamily="18" charset="0"/>
                          </a:rPr>
                          <m:t>𝑐</m:t>
                        </m:r>
                      </m:sub>
                    </m:sSub>
                    <m:r>
                      <a:rPr lang="es-ES" b="0" i="1" smtClean="0">
                        <a:latin typeface="Cambria Math" panose="02040503050406030204" pitchFamily="18" charset="0"/>
                      </a:rPr>
                      <m:t>:</m:t>
                    </m:r>
                    <m:r>
                      <a:rPr lang="es-ES" b="0" i="1" smtClean="0">
                        <a:latin typeface="Cambria Math" panose="02040503050406030204" pitchFamily="18" charset="0"/>
                      </a:rPr>
                      <m:t>𝑥</m:t>
                    </m:r>
                    <m:r>
                      <a:rPr lang="es-ES" b="0" i="1" smtClean="0">
                        <a:latin typeface="Cambria Math" panose="02040503050406030204" pitchFamily="18" charset="0"/>
                      </a:rPr>
                      <m:t>&gt;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𝑥</m:t>
                        </m:r>
                      </m:e>
                      <m:sub>
                        <m:r>
                          <a:rPr lang="es-ES" b="0" i="1" smtClean="0">
                            <a:latin typeface="Cambria Math" panose="02040503050406030204" pitchFamily="18" charset="0"/>
                          </a:rPr>
                          <m:t>0</m:t>
                        </m:r>
                      </m:sub>
                    </m:sSub>
                  </m:oMath>
                </a14:m>
                <a:endParaRPr lang="en-US" dirty="0"/>
              </a:p>
            </p:txBody>
          </p:sp>
        </mc:Choice>
        <mc:Fallback>
          <p:sp>
            <p:nvSpPr>
              <p:cNvPr id="9" name="CuadroTexto 8">
                <a:extLst>
                  <a:ext uri="{FF2B5EF4-FFF2-40B4-BE49-F238E27FC236}">
                    <a16:creationId xmlns:a16="http://schemas.microsoft.com/office/drawing/2014/main" id="{B283F3AC-4052-42A9-73F8-C1FAA4828496}"/>
                  </a:ext>
                </a:extLst>
              </p:cNvPr>
              <p:cNvSpPr txBox="1">
                <a:spLocks noRot="1" noChangeAspect="1" noMove="1" noResize="1" noEditPoints="1" noAdjustHandles="1" noChangeArrowheads="1" noChangeShapeType="1" noTextEdit="1"/>
              </p:cNvSpPr>
              <p:nvPr/>
            </p:nvSpPr>
            <p:spPr>
              <a:xfrm>
                <a:off x="7276661" y="5599581"/>
                <a:ext cx="4300983" cy="464871"/>
              </a:xfrm>
              <a:prstGeom prst="rect">
                <a:avLst/>
              </a:prstGeom>
              <a:blipFill>
                <a:blip r:embed="rId7"/>
                <a:stretch>
                  <a:fillRect b="-21053"/>
                </a:stretch>
              </a:blipFill>
            </p:spPr>
            <p:txBody>
              <a:bodyPr/>
              <a:lstStyle/>
              <a:p>
                <a:r>
                  <a:rPr lang="en-US">
                    <a:noFill/>
                  </a:rPr>
                  <a:t> </a:t>
                </a:r>
              </a:p>
            </p:txBody>
          </p:sp>
        </mc:Fallback>
      </mc:AlternateContent>
      <p:sp>
        <p:nvSpPr>
          <p:cNvPr id="10" name="Marcador de contenido 7">
            <a:extLst>
              <a:ext uri="{FF2B5EF4-FFF2-40B4-BE49-F238E27FC236}">
                <a16:creationId xmlns:a16="http://schemas.microsoft.com/office/drawing/2014/main" id="{3CAD34A1-0ACB-8B9C-E7EF-BB93C550ECC9}"/>
              </a:ext>
            </a:extLst>
          </p:cNvPr>
          <p:cNvSpPr txBox="1">
            <a:spLocks/>
          </p:cNvSpPr>
          <p:nvPr/>
        </p:nvSpPr>
        <p:spPr>
          <a:xfrm>
            <a:off x="7158482" y="2024443"/>
            <a:ext cx="4314825" cy="425964"/>
          </a:xfrm>
          <a:prstGeom prst="rect">
            <a:avLst/>
          </a:prstGeom>
        </p:spPr>
        <p:txBody>
          <a:bodyPr vert="horz" lIns="0" tIns="45720" rIns="0" bIns="45720" rtlCol="0">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pPr algn="ctr"/>
            <a:r>
              <a:rPr lang="en-US" dirty="0">
                <a:solidFill>
                  <a:schemeClr val="tx1"/>
                </a:solidFill>
                <a:latin typeface="+mj-lt"/>
              </a:rPr>
              <a:t>Deterministic trajectory</a:t>
            </a:r>
          </a:p>
        </p:txBody>
      </p:sp>
      <p:sp>
        <p:nvSpPr>
          <p:cNvPr id="11" name="CuadroTexto 10">
            <a:extLst>
              <a:ext uri="{FF2B5EF4-FFF2-40B4-BE49-F238E27FC236}">
                <a16:creationId xmlns:a16="http://schemas.microsoft.com/office/drawing/2014/main" id="{8FB3E477-45A4-47F0-956C-403F714AF1BD}"/>
              </a:ext>
            </a:extLst>
          </p:cNvPr>
          <p:cNvSpPr txBox="1"/>
          <p:nvPr/>
        </p:nvSpPr>
        <p:spPr>
          <a:xfrm>
            <a:off x="7200008" y="2396225"/>
            <a:ext cx="4300983" cy="464871"/>
          </a:xfrm>
          <a:prstGeom prst="rect">
            <a:avLst/>
          </a:prstGeom>
          <a:noFill/>
        </p:spPr>
        <p:txBody>
          <a:bodyPr wrap="square">
            <a:spAutoFit/>
          </a:bodyPr>
          <a:lstStyle/>
          <a:p>
            <a:pPr algn="just">
              <a:lnSpc>
                <a:spcPct val="150000"/>
              </a:lnSpc>
            </a:pPr>
            <a:r>
              <a:rPr lang="en-US" dirty="0"/>
              <a:t>Decreases monotonically</a:t>
            </a:r>
          </a:p>
        </p:txBody>
      </p:sp>
      <p:sp>
        <p:nvSpPr>
          <p:cNvPr id="12" name="Marcador de contenido 7">
            <a:extLst>
              <a:ext uri="{FF2B5EF4-FFF2-40B4-BE49-F238E27FC236}">
                <a16:creationId xmlns:a16="http://schemas.microsoft.com/office/drawing/2014/main" id="{30B184A3-7E9F-858D-194B-A6D239F827B7}"/>
              </a:ext>
            </a:extLst>
          </p:cNvPr>
          <p:cNvSpPr txBox="1">
            <a:spLocks/>
          </p:cNvSpPr>
          <p:nvPr/>
        </p:nvSpPr>
        <p:spPr>
          <a:xfrm>
            <a:off x="7217571" y="3028260"/>
            <a:ext cx="4314825" cy="425964"/>
          </a:xfrm>
          <a:prstGeom prst="rect">
            <a:avLst/>
          </a:prstGeom>
        </p:spPr>
        <p:txBody>
          <a:bodyPr vert="horz" lIns="0" tIns="45720" rIns="0" bIns="45720" rtlCol="0">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pPr algn="ctr"/>
            <a:r>
              <a:rPr lang="en-US" dirty="0">
                <a:solidFill>
                  <a:schemeClr val="tx1"/>
                </a:solidFill>
                <a:latin typeface="+mj-lt"/>
              </a:rPr>
              <a:t>Stochastic trajectory</a:t>
            </a:r>
          </a:p>
        </p:txBody>
      </p:sp>
    </p:spTree>
    <p:extLst>
      <p:ext uri="{BB962C8B-B14F-4D97-AF65-F5344CB8AC3E}">
        <p14:creationId xmlns:p14="http://schemas.microsoft.com/office/powerpoint/2010/main" val="310395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1"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EAEC6C-B27B-A1BA-827C-87FF0EFC66BA}"/>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CF7A821C-0292-9683-5435-A1682AF07AF4}"/>
              </a:ext>
            </a:extLst>
          </p:cNvPr>
          <p:cNvPicPr>
            <a:picLocks noGrp="1" noRot="1" noMove="1" noResize="1" noEditPoints="1" noAdjustHandles="1" noChangeArrowheads="1" noChangeShapeType="1" noCrop="1"/>
          </p:cNvPicPr>
          <p:nvPr/>
        </p:nvPicPr>
        <p:blipFill>
          <a:blip r:embed="rId2"/>
          <a:srcRect t="20213"/>
          <a:stretch>
            <a:fillRect/>
          </a:stretch>
        </p:blipFill>
        <p:spPr>
          <a:xfrm>
            <a:off x="0" y="0"/>
            <a:ext cx="12192000" cy="6857989"/>
          </a:xfrm>
          <a:prstGeom prst="rect">
            <a:avLst/>
          </a:prstGeom>
        </p:spPr>
      </p:pic>
      <p:sp>
        <p:nvSpPr>
          <p:cNvPr id="5" name="Rectángulo 4">
            <a:extLst>
              <a:ext uri="{FF2B5EF4-FFF2-40B4-BE49-F238E27FC236}">
                <a16:creationId xmlns:a16="http://schemas.microsoft.com/office/drawing/2014/main" id="{506ACEB4-E658-2833-8F8F-1DEAE65A3330}"/>
              </a:ext>
            </a:extLst>
          </p:cNvPr>
          <p:cNvSpPr>
            <a:spLocks noGrp="1" noRot="1" noMove="1" noResize="1" noEditPoints="1" noAdjustHandles="1" noChangeArrowheads="1" noChangeShapeType="1"/>
          </p:cNvSpPr>
          <p:nvPr/>
        </p:nvSpPr>
        <p:spPr>
          <a:xfrm>
            <a:off x="957072" y="697264"/>
            <a:ext cx="10198608" cy="98755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 name="Título 1">
            <a:extLst>
              <a:ext uri="{FF2B5EF4-FFF2-40B4-BE49-F238E27FC236}">
                <a16:creationId xmlns:a16="http://schemas.microsoft.com/office/drawing/2014/main" id="{D79D0F49-C2BB-9557-A7C1-183FA15A4DA6}"/>
              </a:ext>
            </a:extLst>
          </p:cNvPr>
          <p:cNvSpPr>
            <a:spLocks noGrp="1"/>
          </p:cNvSpPr>
          <p:nvPr>
            <p:ph type="title"/>
          </p:nvPr>
        </p:nvSpPr>
        <p:spPr>
          <a:xfrm>
            <a:off x="957071" y="765110"/>
            <a:ext cx="10127695" cy="790872"/>
          </a:xfrm>
        </p:spPr>
        <p:txBody>
          <a:bodyPr>
            <a:normAutofit fontScale="90000"/>
          </a:bodyPr>
          <a:lstStyle/>
          <a:p>
            <a:pPr algn="ctr"/>
            <a:r>
              <a:rPr lang="en-US" dirty="0">
                <a:solidFill>
                  <a:schemeClr val="tx1"/>
                </a:solidFill>
              </a:rPr>
              <a:t>Competition between selection and growth</a:t>
            </a:r>
          </a:p>
        </p:txBody>
      </p:sp>
      <p:sp>
        <p:nvSpPr>
          <p:cNvPr id="6" name="Rectángulo 5">
            <a:extLst>
              <a:ext uri="{FF2B5EF4-FFF2-40B4-BE49-F238E27FC236}">
                <a16:creationId xmlns:a16="http://schemas.microsoft.com/office/drawing/2014/main" id="{5C615D35-0622-95FC-BFEA-D6C8BA4209A4}"/>
              </a:ext>
            </a:extLst>
          </p:cNvPr>
          <p:cNvSpPr>
            <a:spLocks noGrp="1" noRot="1" noMove="1" noResize="1" noEditPoints="1" noAdjustHandles="1" noChangeArrowheads="1" noChangeShapeType="1"/>
          </p:cNvSpPr>
          <p:nvPr/>
        </p:nvSpPr>
        <p:spPr>
          <a:xfrm>
            <a:off x="6467474" y="2023962"/>
            <a:ext cx="5124451" cy="4290709"/>
          </a:xfrm>
          <a:prstGeom prst="rect">
            <a:avLst/>
          </a:prstGeom>
          <a:solidFill>
            <a:schemeClr val="bg1">
              <a:lumMod val="95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a:t>
            </a:r>
          </a:p>
        </p:txBody>
      </p:sp>
      <p:pic>
        <p:nvPicPr>
          <p:cNvPr id="7" name="Marcador de contenido 6">
            <a:extLst>
              <a:ext uri="{FF2B5EF4-FFF2-40B4-BE49-F238E27FC236}">
                <a16:creationId xmlns:a16="http://schemas.microsoft.com/office/drawing/2014/main" id="{0C19D8CA-9A3D-76CC-BD9B-2F79DA2111E6}"/>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483869" y="2023961"/>
            <a:ext cx="5809655" cy="4290709"/>
          </a:xfrm>
          <a:prstGeom prst="rect">
            <a:avLst/>
          </a:prstGeom>
        </p:spPr>
      </p:pic>
      <p:pic>
        <p:nvPicPr>
          <p:cNvPr id="8" name="Imagen 7">
            <a:extLst>
              <a:ext uri="{FF2B5EF4-FFF2-40B4-BE49-F238E27FC236}">
                <a16:creationId xmlns:a16="http://schemas.microsoft.com/office/drawing/2014/main" id="{2D7E4470-4EF4-30BE-904E-0D18FA3C336F}"/>
              </a:ext>
            </a:extLst>
          </p:cNvPr>
          <p:cNvPicPr>
            <a:picLocks noChangeAspect="1"/>
          </p:cNvPicPr>
          <p:nvPr/>
        </p:nvPicPr>
        <p:blipFill>
          <a:blip r:embed="rId4"/>
          <a:stretch>
            <a:fillRect/>
          </a:stretch>
        </p:blipFill>
        <p:spPr>
          <a:xfrm>
            <a:off x="8273735" y="5028691"/>
            <a:ext cx="1619476" cy="609685"/>
          </a:xfrm>
          <a:prstGeom prst="rect">
            <a:avLst/>
          </a:prstGeom>
        </p:spPr>
      </p:pic>
      <mc:AlternateContent xmlns:mc="http://schemas.openxmlformats.org/markup-compatibility/2006">
        <mc:Choice xmlns:a14="http://schemas.microsoft.com/office/drawing/2010/main" Requires="a14">
          <p:sp>
            <p:nvSpPr>
              <p:cNvPr id="9" name="CuadroTexto 8">
                <a:extLst>
                  <a:ext uri="{FF2B5EF4-FFF2-40B4-BE49-F238E27FC236}">
                    <a16:creationId xmlns:a16="http://schemas.microsoft.com/office/drawing/2014/main" id="{46FAFCBC-BF34-281D-0DC5-2364F59D7C53}"/>
                  </a:ext>
                </a:extLst>
              </p:cNvPr>
              <p:cNvSpPr txBox="1"/>
              <p:nvPr/>
            </p:nvSpPr>
            <p:spPr>
              <a:xfrm>
                <a:off x="6575021" y="2121158"/>
                <a:ext cx="5016904" cy="879664"/>
              </a:xfrm>
              <a:prstGeom prst="rect">
                <a:avLst/>
              </a:prstGeom>
              <a:noFill/>
            </p:spPr>
            <p:txBody>
              <a:bodyPr wrap="square">
                <a:spAutoFit/>
              </a:bodyPr>
              <a:lstStyle/>
              <a:p>
                <a:pPr algn="just">
                  <a:lnSpc>
                    <a:spcPct val="150000"/>
                  </a:lnSpc>
                </a:pPr>
                <a14:m>
                  <m:oMath xmlns:m="http://schemas.openxmlformats.org/officeDocument/2006/math">
                    <m:r>
                      <a:rPr lang="es-ES" b="0" i="1" smtClean="0">
                        <a:latin typeface="Cambria Math" panose="02040503050406030204" pitchFamily="18" charset="0"/>
                      </a:rPr>
                      <m:t>𝑠</m:t>
                    </m:r>
                  </m:oMath>
                </a14:m>
                <a:r>
                  <a:rPr lang="en-US" dirty="0"/>
                  <a:t>: Controls how fast internal composition changes.</a:t>
                </a:r>
              </a:p>
              <a:p>
                <a:pPr algn="just">
                  <a:lnSpc>
                    <a:spcPct val="150000"/>
                  </a:lnSpc>
                </a:pPr>
                <a14:m>
                  <m:oMath xmlns:m="http://schemas.openxmlformats.org/officeDocument/2006/math">
                    <m:sSub>
                      <m:sSubPr>
                        <m:ctrlPr>
                          <a:rPr lang="es-ES" b="0" i="1" smtClean="0">
                            <a:latin typeface="Cambria Math" panose="02040503050406030204" pitchFamily="18" charset="0"/>
                          </a:rPr>
                        </m:ctrlPr>
                      </m:sSubPr>
                      <m:e>
                        <m:r>
                          <a:rPr lang="es-ES" b="0" i="1" smtClean="0">
                            <a:latin typeface="Cambria Math" panose="02040503050406030204" pitchFamily="18" charset="0"/>
                          </a:rPr>
                          <m:t>𝑁</m:t>
                        </m:r>
                      </m:e>
                      <m:sub>
                        <m:r>
                          <a:rPr lang="es-ES" b="0" i="1" smtClean="0">
                            <a:latin typeface="Cambria Math" panose="02040503050406030204" pitchFamily="18" charset="0"/>
                          </a:rPr>
                          <m:t>0</m:t>
                        </m:r>
                      </m:sub>
                    </m:sSub>
                  </m:oMath>
                </a14:m>
                <a:r>
                  <a:rPr lang="en-US" dirty="0"/>
                  <a:t>: Controls demographic fluctuations.</a:t>
                </a:r>
              </a:p>
            </p:txBody>
          </p:sp>
        </mc:Choice>
        <mc:Fallback>
          <p:sp>
            <p:nvSpPr>
              <p:cNvPr id="9" name="CuadroTexto 8">
                <a:extLst>
                  <a:ext uri="{FF2B5EF4-FFF2-40B4-BE49-F238E27FC236}">
                    <a16:creationId xmlns:a16="http://schemas.microsoft.com/office/drawing/2014/main" id="{46FAFCBC-BF34-281D-0DC5-2364F59D7C53}"/>
                  </a:ext>
                </a:extLst>
              </p:cNvPr>
              <p:cNvSpPr txBox="1">
                <a:spLocks noRot="1" noChangeAspect="1" noMove="1" noResize="1" noEditPoints="1" noAdjustHandles="1" noChangeArrowheads="1" noChangeShapeType="1" noTextEdit="1"/>
              </p:cNvSpPr>
              <p:nvPr/>
            </p:nvSpPr>
            <p:spPr>
              <a:xfrm>
                <a:off x="6575021" y="2121158"/>
                <a:ext cx="5016904" cy="879664"/>
              </a:xfrm>
              <a:prstGeom prst="rect">
                <a:avLst/>
              </a:prstGeom>
              <a:blipFill>
                <a:blip r:embed="rId5"/>
                <a:stretch>
                  <a:fillRect b="-1041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CuadroTexto 9">
                <a:extLst>
                  <a:ext uri="{FF2B5EF4-FFF2-40B4-BE49-F238E27FC236}">
                    <a16:creationId xmlns:a16="http://schemas.microsoft.com/office/drawing/2014/main" id="{92890746-29AE-4BFE-0B33-B6840EB6C0E2}"/>
                  </a:ext>
                </a:extLst>
              </p:cNvPr>
              <p:cNvSpPr txBox="1"/>
              <p:nvPr/>
            </p:nvSpPr>
            <p:spPr>
              <a:xfrm>
                <a:off x="6575021" y="3031830"/>
                <a:ext cx="5016904" cy="507831"/>
              </a:xfrm>
              <a:prstGeom prst="rect">
                <a:avLst/>
              </a:prstGeom>
              <a:noFill/>
            </p:spPr>
            <p:txBody>
              <a:bodyPr wrap="square">
                <a:spAutoFit/>
              </a:bodyPr>
              <a:lstStyle/>
              <a:p>
                <a:pPr algn="just">
                  <a:lnSpc>
                    <a:spcPct val="150000"/>
                  </a:lnSpc>
                </a:pPr>
                <a14:m>
                  <m:oMathPara xmlns:m="http://schemas.openxmlformats.org/officeDocument/2006/math">
                    <m:oMathParaPr>
                      <m:jc m:val="centerGroup"/>
                    </m:oMathParaPr>
                    <m:oMath xmlns:m="http://schemas.openxmlformats.org/officeDocument/2006/math">
                      <m:sSub>
                        <m:sSubPr>
                          <m:ctrlPr>
                            <a:rPr lang="es-ES" b="0" i="1" smtClean="0">
                              <a:latin typeface="Cambria Math" panose="02040503050406030204" pitchFamily="18" charset="0"/>
                            </a:rPr>
                          </m:ctrlPr>
                        </m:sSubPr>
                        <m:e>
                          <m:r>
                            <a:rPr lang="es-ES" b="0" i="1" smtClean="0">
                              <a:latin typeface="Cambria Math" panose="02040503050406030204" pitchFamily="18" charset="0"/>
                            </a:rPr>
                            <m:t>𝑡</m:t>
                          </m:r>
                        </m:e>
                        <m:sub>
                          <m:r>
                            <a:rPr lang="es-ES" b="0" i="1" smtClean="0">
                              <a:latin typeface="Cambria Math" panose="02040503050406030204" pitchFamily="18" charset="0"/>
                            </a:rPr>
                            <m:t>𝑐</m:t>
                          </m:r>
                        </m:sub>
                      </m:sSub>
                      <m:d>
                        <m:dPr>
                          <m:ctrlPr>
                            <a:rPr lang="es-ES" b="0" i="1" smtClean="0">
                              <a:latin typeface="Cambria Math" panose="02040503050406030204" pitchFamily="18" charset="0"/>
                            </a:rPr>
                          </m:ctrlPr>
                        </m:dPr>
                        <m:e>
                          <m:r>
                            <a:rPr lang="es-ES" b="0" i="1" smtClean="0">
                              <a:latin typeface="Cambria Math" panose="02040503050406030204" pitchFamily="18" charset="0"/>
                            </a:rPr>
                            <m:t>𝑠</m:t>
                          </m:r>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𝑁</m:t>
                              </m:r>
                            </m:e>
                            <m:sub>
                              <m:r>
                                <a:rPr lang="es-ES" b="0" i="1" smtClean="0">
                                  <a:latin typeface="Cambria Math" panose="02040503050406030204" pitchFamily="18" charset="0"/>
                                </a:rPr>
                                <m:t>0</m:t>
                              </m:r>
                            </m:sub>
                          </m:sSub>
                        </m:e>
                      </m:d>
                    </m:oMath>
                  </m:oMathPara>
                </a14:m>
                <a:endParaRPr lang="en-US" dirty="0"/>
              </a:p>
            </p:txBody>
          </p:sp>
        </mc:Choice>
        <mc:Fallback>
          <p:sp>
            <p:nvSpPr>
              <p:cNvPr id="10" name="CuadroTexto 9">
                <a:extLst>
                  <a:ext uri="{FF2B5EF4-FFF2-40B4-BE49-F238E27FC236}">
                    <a16:creationId xmlns:a16="http://schemas.microsoft.com/office/drawing/2014/main" id="{92890746-29AE-4BFE-0B33-B6840EB6C0E2}"/>
                  </a:ext>
                </a:extLst>
              </p:cNvPr>
              <p:cNvSpPr txBox="1">
                <a:spLocks noRot="1" noChangeAspect="1" noMove="1" noResize="1" noEditPoints="1" noAdjustHandles="1" noChangeArrowheads="1" noChangeShapeType="1" noTextEdit="1"/>
              </p:cNvSpPr>
              <p:nvPr/>
            </p:nvSpPr>
            <p:spPr>
              <a:xfrm>
                <a:off x="6575021" y="3031830"/>
                <a:ext cx="5016904" cy="507831"/>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 name="CuadroTexto 10">
                <a:extLst>
                  <a:ext uri="{FF2B5EF4-FFF2-40B4-BE49-F238E27FC236}">
                    <a16:creationId xmlns:a16="http://schemas.microsoft.com/office/drawing/2014/main" id="{FD329952-B464-0D0F-5CB0-1F60B1166289}"/>
                  </a:ext>
                </a:extLst>
              </p:cNvPr>
              <p:cNvSpPr txBox="1"/>
              <p:nvPr/>
            </p:nvSpPr>
            <p:spPr>
              <a:xfrm>
                <a:off x="6575021" y="3759864"/>
                <a:ext cx="5016904" cy="464166"/>
              </a:xfrm>
              <a:prstGeom prst="rect">
                <a:avLst/>
              </a:prstGeom>
              <a:noFill/>
            </p:spPr>
            <p:txBody>
              <a:bodyPr wrap="square">
                <a:spAutoFit/>
              </a:bodyPr>
              <a:lstStyle/>
              <a:p>
                <a:pPr algn="just">
                  <a:lnSpc>
                    <a:spcPct val="150000"/>
                  </a:lnSpc>
                </a:pPr>
                <a:r>
                  <a:rPr lang="es-ES" b="0" dirty="0"/>
                  <a:t>(Fig 4) </a:t>
                </a:r>
                <a14:m>
                  <m:oMath xmlns:m="http://schemas.openxmlformats.org/officeDocument/2006/math">
                    <m:sSub>
                      <m:sSubPr>
                        <m:ctrlPr>
                          <a:rPr lang="es-ES" b="0" i="1" smtClean="0">
                            <a:latin typeface="Cambria Math" panose="02040503050406030204" pitchFamily="18" charset="0"/>
                          </a:rPr>
                        </m:ctrlPr>
                      </m:sSubPr>
                      <m:e>
                        <m:r>
                          <a:rPr lang="es-ES" b="0" i="1" smtClean="0">
                            <a:latin typeface="Cambria Math" panose="02040503050406030204" pitchFamily="18" charset="0"/>
                          </a:rPr>
                          <m:t>𝑡</m:t>
                        </m:r>
                      </m:e>
                      <m:sub>
                        <m:r>
                          <a:rPr lang="es-ES" b="0" i="1" smtClean="0">
                            <a:latin typeface="Cambria Math" panose="02040503050406030204" pitchFamily="18" charset="0"/>
                          </a:rPr>
                          <m:t>𝑐</m:t>
                        </m:r>
                      </m:sub>
                    </m:sSub>
                  </m:oMath>
                </a14:m>
                <a:r>
                  <a:rPr lang="en-US" dirty="0"/>
                  <a:t> vanishes as </a:t>
                </a:r>
                <a14:m>
                  <m:oMath xmlns:m="http://schemas.openxmlformats.org/officeDocument/2006/math">
                    <m:r>
                      <a:rPr lang="es-ES" b="0" i="1" smtClean="0">
                        <a:latin typeface="Cambria Math" panose="02040503050406030204" pitchFamily="18" charset="0"/>
                      </a:rPr>
                      <m:t>𝑠</m:t>
                    </m:r>
                  </m:oMath>
                </a14:m>
                <a:r>
                  <a:rPr lang="en-US" dirty="0"/>
                  <a:t> and </a:t>
                </a:r>
                <a14:m>
                  <m:oMath xmlns:m="http://schemas.openxmlformats.org/officeDocument/2006/math">
                    <m:sSub>
                      <m:sSubPr>
                        <m:ctrlPr>
                          <a:rPr lang="es-ES" b="0" i="1" smtClean="0">
                            <a:latin typeface="Cambria Math" panose="02040503050406030204" pitchFamily="18" charset="0"/>
                          </a:rPr>
                        </m:ctrlPr>
                      </m:sSubPr>
                      <m:e>
                        <m:r>
                          <a:rPr lang="es-ES" b="0" i="1" smtClean="0">
                            <a:latin typeface="Cambria Math" panose="02040503050406030204" pitchFamily="18" charset="0"/>
                          </a:rPr>
                          <m:t>𝑁</m:t>
                        </m:r>
                      </m:e>
                      <m:sub>
                        <m:r>
                          <a:rPr lang="es-ES" b="0" i="1" smtClean="0">
                            <a:latin typeface="Cambria Math" panose="02040503050406030204" pitchFamily="18" charset="0"/>
                          </a:rPr>
                          <m:t>0</m:t>
                        </m:r>
                      </m:sub>
                    </m:sSub>
                  </m:oMath>
                </a14:m>
                <a:r>
                  <a:rPr lang="en-US" dirty="0"/>
                  <a:t> increases. </a:t>
                </a:r>
              </a:p>
            </p:txBody>
          </p:sp>
        </mc:Choice>
        <mc:Fallback>
          <p:sp>
            <p:nvSpPr>
              <p:cNvPr id="11" name="CuadroTexto 10">
                <a:extLst>
                  <a:ext uri="{FF2B5EF4-FFF2-40B4-BE49-F238E27FC236}">
                    <a16:creationId xmlns:a16="http://schemas.microsoft.com/office/drawing/2014/main" id="{FD329952-B464-0D0F-5CB0-1F60B1166289}"/>
                  </a:ext>
                </a:extLst>
              </p:cNvPr>
              <p:cNvSpPr txBox="1">
                <a:spLocks noRot="1" noChangeAspect="1" noMove="1" noResize="1" noEditPoints="1" noAdjustHandles="1" noChangeArrowheads="1" noChangeShapeType="1" noTextEdit="1"/>
              </p:cNvSpPr>
              <p:nvPr/>
            </p:nvSpPr>
            <p:spPr>
              <a:xfrm>
                <a:off x="6575021" y="3759864"/>
                <a:ext cx="5016904" cy="464166"/>
              </a:xfrm>
              <a:prstGeom prst="rect">
                <a:avLst/>
              </a:prstGeom>
              <a:blipFill>
                <a:blip r:embed="rId7"/>
                <a:stretch>
                  <a:fillRect l="-1094" b="-21053"/>
                </a:stretch>
              </a:blipFill>
            </p:spPr>
            <p:txBody>
              <a:bodyPr/>
              <a:lstStyle/>
              <a:p>
                <a:r>
                  <a:rPr lang="en-US">
                    <a:noFill/>
                  </a:rPr>
                  <a:t> </a:t>
                </a:r>
              </a:p>
            </p:txBody>
          </p:sp>
        </mc:Fallback>
      </mc:AlternateContent>
      <p:sp>
        <p:nvSpPr>
          <p:cNvPr id="13" name="CuadroTexto 12">
            <a:extLst>
              <a:ext uri="{FF2B5EF4-FFF2-40B4-BE49-F238E27FC236}">
                <a16:creationId xmlns:a16="http://schemas.microsoft.com/office/drawing/2014/main" id="{6B194CC5-C59E-70E8-4C85-B301D8F1186F}"/>
              </a:ext>
            </a:extLst>
          </p:cNvPr>
          <p:cNvSpPr txBox="1"/>
          <p:nvPr/>
        </p:nvSpPr>
        <p:spPr>
          <a:xfrm>
            <a:off x="6575021" y="4497212"/>
            <a:ext cx="5016904" cy="464871"/>
          </a:xfrm>
          <a:prstGeom prst="rect">
            <a:avLst/>
          </a:prstGeom>
          <a:noFill/>
        </p:spPr>
        <p:txBody>
          <a:bodyPr wrap="square">
            <a:spAutoFit/>
          </a:bodyPr>
          <a:lstStyle/>
          <a:p>
            <a:pPr algn="just">
              <a:lnSpc>
                <a:spcPct val="150000"/>
              </a:lnSpc>
            </a:pPr>
            <a:r>
              <a:rPr lang="en-US" dirty="0"/>
              <a:t>Analytical boundary (Appendix)</a:t>
            </a:r>
          </a:p>
        </p:txBody>
      </p:sp>
    </p:spTree>
    <p:extLst>
      <p:ext uri="{BB962C8B-B14F-4D97-AF65-F5344CB8AC3E}">
        <p14:creationId xmlns:p14="http://schemas.microsoft.com/office/powerpoint/2010/main" val="29820441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D9106-6380-BFC4-E95F-873C901107F2}"/>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A0707E8A-0BF5-D42E-4D64-2732A6FB61E4}"/>
              </a:ext>
            </a:extLst>
          </p:cNvPr>
          <p:cNvPicPr>
            <a:picLocks noGrp="1" noRot="1" noMove="1" noResize="1" noEditPoints="1" noAdjustHandles="1" noChangeArrowheads="1" noChangeShapeType="1" noCrop="1"/>
          </p:cNvPicPr>
          <p:nvPr/>
        </p:nvPicPr>
        <p:blipFill>
          <a:blip r:embed="rId2"/>
          <a:srcRect t="20213"/>
          <a:stretch>
            <a:fillRect/>
          </a:stretch>
        </p:blipFill>
        <p:spPr>
          <a:xfrm>
            <a:off x="0" y="0"/>
            <a:ext cx="12192000" cy="6857989"/>
          </a:xfrm>
          <a:prstGeom prst="rect">
            <a:avLst/>
          </a:prstGeom>
        </p:spPr>
      </p:pic>
      <p:sp>
        <p:nvSpPr>
          <p:cNvPr id="5" name="Rectángulo 4">
            <a:extLst>
              <a:ext uri="{FF2B5EF4-FFF2-40B4-BE49-F238E27FC236}">
                <a16:creationId xmlns:a16="http://schemas.microsoft.com/office/drawing/2014/main" id="{E126BCB5-0DDA-CE5C-FD0C-D578DBDD6A4B}"/>
              </a:ext>
            </a:extLst>
          </p:cNvPr>
          <p:cNvSpPr>
            <a:spLocks noGrp="1" noRot="1" noMove="1" noResize="1" noEditPoints="1" noAdjustHandles="1" noChangeArrowheads="1" noChangeShapeType="1"/>
          </p:cNvSpPr>
          <p:nvPr/>
        </p:nvSpPr>
        <p:spPr>
          <a:xfrm>
            <a:off x="957072" y="697264"/>
            <a:ext cx="10198608" cy="98755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 name="Título 1">
            <a:extLst>
              <a:ext uri="{FF2B5EF4-FFF2-40B4-BE49-F238E27FC236}">
                <a16:creationId xmlns:a16="http://schemas.microsoft.com/office/drawing/2014/main" id="{179AAD70-88DB-D9DA-7619-B4336FF8A339}"/>
              </a:ext>
            </a:extLst>
          </p:cNvPr>
          <p:cNvSpPr>
            <a:spLocks noGrp="1"/>
          </p:cNvSpPr>
          <p:nvPr>
            <p:ph type="title"/>
          </p:nvPr>
        </p:nvSpPr>
        <p:spPr>
          <a:xfrm>
            <a:off x="957071" y="765110"/>
            <a:ext cx="10127695" cy="790872"/>
          </a:xfrm>
        </p:spPr>
        <p:txBody>
          <a:bodyPr>
            <a:normAutofit/>
          </a:bodyPr>
          <a:lstStyle/>
          <a:p>
            <a:pPr algn="ctr"/>
            <a:r>
              <a:rPr lang="en-US" dirty="0">
                <a:solidFill>
                  <a:schemeClr val="tx1"/>
                </a:solidFill>
              </a:rPr>
              <a:t>Conclusions</a:t>
            </a:r>
          </a:p>
        </p:txBody>
      </p:sp>
      <p:sp>
        <p:nvSpPr>
          <p:cNvPr id="6" name="Rectángulo 5">
            <a:extLst>
              <a:ext uri="{FF2B5EF4-FFF2-40B4-BE49-F238E27FC236}">
                <a16:creationId xmlns:a16="http://schemas.microsoft.com/office/drawing/2014/main" id="{816B3BDF-8602-C687-CF56-70756DA646A3}"/>
              </a:ext>
            </a:extLst>
          </p:cNvPr>
          <p:cNvSpPr>
            <a:spLocks noGrp="1" noRot="1" noMove="1" noResize="1" noEditPoints="1" noAdjustHandles="1" noChangeArrowheads="1" noChangeShapeType="1"/>
          </p:cNvSpPr>
          <p:nvPr/>
        </p:nvSpPr>
        <p:spPr>
          <a:xfrm>
            <a:off x="957072" y="2023962"/>
            <a:ext cx="10198608" cy="4290709"/>
          </a:xfrm>
          <a:prstGeom prst="rect">
            <a:avLst/>
          </a:prstGeom>
          <a:solidFill>
            <a:schemeClr val="bg1">
              <a:lumMod val="95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Marcador de contenido 7">
            <a:extLst>
              <a:ext uri="{FF2B5EF4-FFF2-40B4-BE49-F238E27FC236}">
                <a16:creationId xmlns:a16="http://schemas.microsoft.com/office/drawing/2014/main" id="{96DECFE0-E118-4D46-EA45-B4BA01F88AF3}"/>
              </a:ext>
            </a:extLst>
          </p:cNvPr>
          <p:cNvSpPr>
            <a:spLocks noGrp="1"/>
          </p:cNvSpPr>
          <p:nvPr>
            <p:ph idx="1"/>
          </p:nvPr>
        </p:nvSpPr>
        <p:spPr>
          <a:xfrm>
            <a:off x="1036320" y="2069530"/>
            <a:ext cx="10119360" cy="2996292"/>
          </a:xfrm>
        </p:spPr>
        <p:txBody>
          <a:bodyPr>
            <a:normAutofit fontScale="92500"/>
          </a:bodyPr>
          <a:lstStyle/>
          <a:p>
            <a:pPr>
              <a:lnSpc>
                <a:spcPct val="150000"/>
              </a:lnSpc>
            </a:pPr>
            <a:r>
              <a:rPr lang="en-US" sz="1900" dirty="0">
                <a:solidFill>
                  <a:schemeClr val="tx1"/>
                </a:solidFill>
              </a:rPr>
              <a:t>Coupling evolutionary dynamics with population growth changes the behavior expected from the deterministic replicator equation:</a:t>
            </a:r>
          </a:p>
          <a:p>
            <a:pPr>
              <a:lnSpc>
                <a:spcPct val="150000"/>
              </a:lnSpc>
              <a:buFont typeface="Wingdings" panose="05000000000000000000" pitchFamily="2" charset="2"/>
              <a:buChar char="q"/>
            </a:pPr>
            <a:r>
              <a:rPr lang="en-US" sz="1900" dirty="0">
                <a:solidFill>
                  <a:schemeClr val="tx1"/>
                </a:solidFill>
              </a:rPr>
              <a:t>Deterministic model: cooperators always decrease because defectors have a relative fitness advantage.</a:t>
            </a:r>
          </a:p>
          <a:p>
            <a:pPr>
              <a:lnSpc>
                <a:spcPct val="150000"/>
              </a:lnSpc>
              <a:buFont typeface="Wingdings" panose="05000000000000000000" pitchFamily="2" charset="2"/>
              <a:buChar char="q"/>
            </a:pPr>
            <a:r>
              <a:rPr lang="en-US" sz="1900" dirty="0">
                <a:solidFill>
                  <a:schemeClr val="tx1"/>
                </a:solidFill>
              </a:rPr>
              <a:t>Stochastic model: small populations can display a transient increase in cooperation when selection is weak and the initial population small. This increase is not caused by selection favoring cooperators, but by the amplification of early demographic fluctuations during the growth phase. </a:t>
            </a:r>
          </a:p>
          <a:p>
            <a:pPr marL="0" indent="0">
              <a:buNone/>
            </a:pPr>
            <a:endParaRPr lang="en-US" dirty="0">
              <a:solidFill>
                <a:schemeClr val="tx1"/>
              </a:solidFill>
            </a:endParaRPr>
          </a:p>
        </p:txBody>
      </p:sp>
      <p:sp>
        <p:nvSpPr>
          <p:cNvPr id="3" name="Marcador de contenido 7">
            <a:extLst>
              <a:ext uri="{FF2B5EF4-FFF2-40B4-BE49-F238E27FC236}">
                <a16:creationId xmlns:a16="http://schemas.microsoft.com/office/drawing/2014/main" id="{07B6AD0D-9492-5A62-F8EE-58425F51E191}"/>
              </a:ext>
            </a:extLst>
          </p:cNvPr>
          <p:cNvSpPr txBox="1">
            <a:spLocks/>
          </p:cNvSpPr>
          <p:nvPr/>
        </p:nvSpPr>
        <p:spPr>
          <a:xfrm>
            <a:off x="1446485" y="5094672"/>
            <a:ext cx="5516880" cy="987551"/>
          </a:xfrm>
          <a:prstGeom prst="rect">
            <a:avLst/>
          </a:prstGeom>
        </p:spPr>
        <p:txBody>
          <a:bodyPr vert="horz" lIns="0" tIns="45720" rIns="0" bIns="45720" rtlCol="0">
            <a:normAutofit fontScale="85000" lnSpcReduction="10000"/>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pPr>
              <a:lnSpc>
                <a:spcPct val="150000"/>
              </a:lnSpc>
            </a:pPr>
            <a:r>
              <a:rPr lang="en-US" sz="2100" dirty="0">
                <a:solidFill>
                  <a:schemeClr val="tx1"/>
                </a:solidFill>
              </a:rPr>
              <a:t>Therefore, the population size cannot always be treated as a constant variable in evolutionary game theory.</a:t>
            </a:r>
          </a:p>
          <a:p>
            <a:endParaRPr lang="en-US" dirty="0">
              <a:solidFill>
                <a:schemeClr val="tx1"/>
              </a:solidFill>
            </a:endParaRPr>
          </a:p>
        </p:txBody>
      </p:sp>
      <p:pic>
        <p:nvPicPr>
          <p:cNvPr id="7" name="Imagen 6">
            <a:extLst>
              <a:ext uri="{FF2B5EF4-FFF2-40B4-BE49-F238E27FC236}">
                <a16:creationId xmlns:a16="http://schemas.microsoft.com/office/drawing/2014/main" id="{90538463-5BBA-9292-886F-29AC7FBCDEBE}"/>
              </a:ext>
            </a:extLst>
          </p:cNvPr>
          <p:cNvPicPr>
            <a:picLocks noChangeAspect="1"/>
          </p:cNvPicPr>
          <p:nvPr/>
        </p:nvPicPr>
        <p:blipFill>
          <a:blip r:embed="rId3"/>
          <a:srcRect b="47840"/>
          <a:stretch>
            <a:fillRect/>
          </a:stretch>
        </p:blipFill>
        <p:spPr>
          <a:xfrm>
            <a:off x="7952191" y="5111390"/>
            <a:ext cx="1595330" cy="428518"/>
          </a:xfrm>
          <a:prstGeom prst="rect">
            <a:avLst/>
          </a:prstGeom>
        </p:spPr>
      </p:pic>
      <p:pic>
        <p:nvPicPr>
          <p:cNvPr id="9" name="Imagen 8">
            <a:extLst>
              <a:ext uri="{FF2B5EF4-FFF2-40B4-BE49-F238E27FC236}">
                <a16:creationId xmlns:a16="http://schemas.microsoft.com/office/drawing/2014/main" id="{4676C12F-66AE-23FF-7225-95471FF895D4}"/>
              </a:ext>
            </a:extLst>
          </p:cNvPr>
          <p:cNvPicPr>
            <a:picLocks noChangeAspect="1"/>
          </p:cNvPicPr>
          <p:nvPr/>
        </p:nvPicPr>
        <p:blipFill>
          <a:blip r:embed="rId3"/>
          <a:srcRect t="54026"/>
          <a:stretch>
            <a:fillRect/>
          </a:stretch>
        </p:blipFill>
        <p:spPr>
          <a:xfrm>
            <a:off x="7135917" y="5593598"/>
            <a:ext cx="1595330" cy="377694"/>
          </a:xfrm>
          <a:prstGeom prst="rect">
            <a:avLst/>
          </a:prstGeom>
        </p:spPr>
      </p:pic>
      <p:pic>
        <p:nvPicPr>
          <p:cNvPr id="10" name="Imagen 9">
            <a:extLst>
              <a:ext uri="{FF2B5EF4-FFF2-40B4-BE49-F238E27FC236}">
                <a16:creationId xmlns:a16="http://schemas.microsoft.com/office/drawing/2014/main" id="{50491381-24FF-D948-F0E3-3D9B603BD742}"/>
              </a:ext>
            </a:extLst>
          </p:cNvPr>
          <p:cNvPicPr>
            <a:picLocks noChangeAspect="1"/>
          </p:cNvPicPr>
          <p:nvPr/>
        </p:nvPicPr>
        <p:blipFill>
          <a:blip r:embed="rId4"/>
          <a:srcRect b="49654"/>
          <a:stretch>
            <a:fillRect/>
          </a:stretch>
        </p:blipFill>
        <p:spPr>
          <a:xfrm>
            <a:off x="8995816" y="5593599"/>
            <a:ext cx="1171038" cy="377693"/>
          </a:xfrm>
          <a:prstGeom prst="rect">
            <a:avLst/>
          </a:prstGeom>
        </p:spPr>
      </p:pic>
      <p:cxnSp>
        <p:nvCxnSpPr>
          <p:cNvPr id="14" name="Conector recto de flecha 13">
            <a:extLst>
              <a:ext uri="{FF2B5EF4-FFF2-40B4-BE49-F238E27FC236}">
                <a16:creationId xmlns:a16="http://schemas.microsoft.com/office/drawing/2014/main" id="{D373F582-F186-913F-DCA0-1546B3780784}"/>
              </a:ext>
            </a:extLst>
          </p:cNvPr>
          <p:cNvCxnSpPr/>
          <p:nvPr/>
        </p:nvCxnSpPr>
        <p:spPr>
          <a:xfrm>
            <a:off x="8731247" y="5782445"/>
            <a:ext cx="24130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recto 15">
            <a:extLst>
              <a:ext uri="{FF2B5EF4-FFF2-40B4-BE49-F238E27FC236}">
                <a16:creationId xmlns:a16="http://schemas.microsoft.com/office/drawing/2014/main" id="{717F7E19-C91C-F936-ED6D-4947FF7B41DB}"/>
              </a:ext>
            </a:extLst>
          </p:cNvPr>
          <p:cNvCxnSpPr>
            <a:cxnSpLocks/>
          </p:cNvCxnSpPr>
          <p:nvPr/>
        </p:nvCxnSpPr>
        <p:spPr>
          <a:xfrm>
            <a:off x="7135917" y="5622720"/>
            <a:ext cx="1595330" cy="348572"/>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516543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P spid="3"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4C1D276-B651-332B-B2AA-B301DC446AB0}"/>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C1B9965A-350E-C12B-2E4C-5EB8A6B5D683}"/>
              </a:ext>
            </a:extLst>
          </p:cNvPr>
          <p:cNvPicPr>
            <a:picLocks noGrp="1" noRot="1" noChangeAspect="1" noMove="1" noResize="1" noEditPoints="1" noAdjustHandles="1" noChangeArrowheads="1" noChangeShapeType="1" noCrop="1"/>
          </p:cNvPicPr>
          <p:nvPr/>
        </p:nvPicPr>
        <p:blipFill>
          <a:blip r:embed="rId2"/>
          <a:srcRect t="20213"/>
          <a:stretch>
            <a:fillRect/>
          </a:stretch>
        </p:blipFill>
        <p:spPr>
          <a:xfrm>
            <a:off x="0" y="0"/>
            <a:ext cx="12192000" cy="6857989"/>
          </a:xfrm>
          <a:prstGeom prst="rect">
            <a:avLst/>
          </a:prstGeom>
        </p:spPr>
      </p:pic>
      <p:sp>
        <p:nvSpPr>
          <p:cNvPr id="10" name="Título 1">
            <a:extLst>
              <a:ext uri="{FF2B5EF4-FFF2-40B4-BE49-F238E27FC236}">
                <a16:creationId xmlns:a16="http://schemas.microsoft.com/office/drawing/2014/main" id="{C00B0B38-EE88-2C74-CFEE-93AA01EBACB5}"/>
              </a:ext>
            </a:extLst>
          </p:cNvPr>
          <p:cNvSpPr>
            <a:spLocks noGrp="1"/>
          </p:cNvSpPr>
          <p:nvPr>
            <p:ph type="ctrTitle"/>
          </p:nvPr>
        </p:nvSpPr>
        <p:spPr>
          <a:xfrm>
            <a:off x="0" y="2935027"/>
            <a:ext cx="12192000" cy="987933"/>
          </a:xfrm>
        </p:spPr>
        <p:txBody>
          <a:bodyPr>
            <a:normAutofit fontScale="90000"/>
          </a:bodyPr>
          <a:lstStyle/>
          <a:p>
            <a:pPr algn="ctr">
              <a:lnSpc>
                <a:spcPct val="100000"/>
              </a:lnSpc>
            </a:pPr>
            <a:r>
              <a:rPr lang="en-US" sz="6000" dirty="0">
                <a:solidFill>
                  <a:schemeClr val="bg1"/>
                </a:solidFill>
              </a:rPr>
              <a:t>Thanks! &lt;3</a:t>
            </a:r>
          </a:p>
        </p:txBody>
      </p:sp>
    </p:spTree>
    <p:extLst>
      <p:ext uri="{BB962C8B-B14F-4D97-AF65-F5344CB8AC3E}">
        <p14:creationId xmlns:p14="http://schemas.microsoft.com/office/powerpoint/2010/main" val="3666982622"/>
      </p:ext>
    </p:extLst>
  </p:cSld>
  <p:clrMapOvr>
    <a:overrideClrMapping bg1="dk1" tx1="lt1" bg2="dk2" tx2="lt2" accent1="accent1" accent2="accent2" accent3="accent3" accent4="accent4" accent5="accent5" accent6="accent6" hlink="hlink" folHlink="folHlink"/>
  </p:clrMapOvr>
</p:sld>
</file>

<file path=ppt/theme/theme1.xml><?xml version="1.0" encoding="utf-8"?>
<a:theme xmlns:a="http://schemas.openxmlformats.org/drawingml/2006/main" name="Retrospección">
  <a:themeElements>
    <a:clrScheme name="Rojo naranja">
      <a:dk1>
        <a:sysClr val="windowText" lastClr="000000"/>
      </a:dk1>
      <a:lt1>
        <a:sysClr val="window" lastClr="FFFFFF"/>
      </a:lt1>
      <a:dk2>
        <a:srgbClr val="505046"/>
      </a:dk2>
      <a:lt2>
        <a:srgbClr val="EEECE1"/>
      </a:lt2>
      <a:accent1>
        <a:srgbClr val="E84C22"/>
      </a:accent1>
      <a:accent2>
        <a:srgbClr val="FFBD47"/>
      </a:accent2>
      <a:accent3>
        <a:srgbClr val="B64926"/>
      </a:accent3>
      <a:accent4>
        <a:srgbClr val="FF8427"/>
      </a:accent4>
      <a:accent5>
        <a:srgbClr val="CC9900"/>
      </a:accent5>
      <a:accent6>
        <a:srgbClr val="B22600"/>
      </a:accent6>
      <a:hlink>
        <a:srgbClr val="CC9900"/>
      </a:hlink>
      <a:folHlink>
        <a:srgbClr val="666699"/>
      </a:folHlink>
    </a:clrScheme>
    <a:fontScheme name="Retrospección">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ción">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243AF7DC-D15B-41C0-AE81-23980D1B9FC4}"/>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Retrospect</Template>
  <TotalTime>460</TotalTime>
  <Words>569</Words>
  <Application>Microsoft Office PowerPoint</Application>
  <PresentationFormat>Panorámica</PresentationFormat>
  <Paragraphs>75</Paragraphs>
  <Slides>14</Slides>
  <Notes>6</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14</vt:i4>
      </vt:variant>
    </vt:vector>
  </HeadingPairs>
  <TitlesOfParts>
    <vt:vector size="20" baseType="lpstr">
      <vt:lpstr>Aptos</vt:lpstr>
      <vt:lpstr>Calibri</vt:lpstr>
      <vt:lpstr>Calibri Light</vt:lpstr>
      <vt:lpstr>Cambria Math</vt:lpstr>
      <vt:lpstr>Wingdings</vt:lpstr>
      <vt:lpstr>Retrospección</vt:lpstr>
      <vt:lpstr>Evolutionary Game Theory  in Growing Populations</vt:lpstr>
      <vt:lpstr>Index</vt:lpstr>
      <vt:lpstr>Introduction</vt:lpstr>
      <vt:lpstr>Introduction</vt:lpstr>
      <vt:lpstr>General model</vt:lpstr>
      <vt:lpstr>General model</vt:lpstr>
      <vt:lpstr>Prisoner’s dilemma game</vt:lpstr>
      <vt:lpstr>Model modification </vt:lpstr>
      <vt:lpstr>Average population dynamics</vt:lpstr>
      <vt:lpstr>Average population dynamics</vt:lpstr>
      <vt:lpstr>Average cooperator fraction dynamics</vt:lpstr>
      <vt:lpstr>Competition between selection and growth</vt:lpstr>
      <vt:lpstr>Conclusions</vt:lpstr>
      <vt:lpstr>Thanks! &lt;3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Carla Bruguera Vicente</dc:creator>
  <cp:lastModifiedBy>Carla Bruguera Vicente</cp:lastModifiedBy>
  <cp:revision>14</cp:revision>
  <dcterms:created xsi:type="dcterms:W3CDTF">2026-05-20T10:23:58Z</dcterms:created>
  <dcterms:modified xsi:type="dcterms:W3CDTF">2026-05-22T06:12:45Z</dcterms:modified>
</cp:coreProperties>
</file>