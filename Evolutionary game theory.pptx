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60" r:id="rId1"/>
  </p:sldMasterIdLst>
  <p:notesMasterIdLst>
    <p:notesMasterId r:id="rId15"/>
  </p:notesMasterIdLst>
  <p:sldIdLst>
    <p:sldId id="256" r:id="rId2"/>
    <p:sldId id="258" r:id="rId3"/>
    <p:sldId id="260" r:id="rId4"/>
    <p:sldId id="266" r:id="rId5"/>
    <p:sldId id="261" r:id="rId6"/>
    <p:sldId id="264" r:id="rId7"/>
    <p:sldId id="263" r:id="rId8"/>
    <p:sldId id="265" r:id="rId9"/>
    <p:sldId id="262" r:id="rId10"/>
    <p:sldId id="267" r:id="rId11"/>
    <p:sldId id="268" r:id="rId12"/>
    <p:sldId id="269" r:id="rId13"/>
    <p:sldId id="271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61" autoAdjust="0"/>
    <p:restoredTop sz="94660"/>
  </p:normalViewPr>
  <p:slideViewPr>
    <p:cSldViewPr snapToGrid="0">
      <p:cViewPr>
        <p:scale>
          <a:sx n="80" d="100"/>
          <a:sy n="80" d="100"/>
        </p:scale>
        <p:origin x="437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A96423-E2BE-406A-8E00-50EA8C0F26E1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18E92B-89E1-424D-92B5-BDD68C18C3D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529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18E92B-89E1-424D-92B5-BDD68C18C3D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1715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18E92B-89E1-424D-92B5-BDD68C18C3D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949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038617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99620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417988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96506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96583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84494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07135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E31BA835-12AC-4E8F-955A-EA3F4DE2791F}" type="datetime1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989084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11233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96330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9193196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E31BA835-12AC-4E8F-955A-EA3F4DE2791F}" type="datetime1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72781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61" r:id="rId1"/>
    <p:sldLayoutId id="2147484062" r:id="rId2"/>
    <p:sldLayoutId id="2147484063" r:id="rId3"/>
    <p:sldLayoutId id="2147484064" r:id="rId4"/>
    <p:sldLayoutId id="2147484065" r:id="rId5"/>
    <p:sldLayoutId id="2147484066" r:id="rId6"/>
    <p:sldLayoutId id="2147484067" r:id="rId7"/>
    <p:sldLayoutId id="2147484068" r:id="rId8"/>
    <p:sldLayoutId id="2147484069" r:id="rId9"/>
    <p:sldLayoutId id="2147484070" r:id="rId10"/>
    <p:sldLayoutId id="2147484071" r:id="rId11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7AD543E-0EC8-AF53-5271-06499902F0E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t="20213"/>
          <a:stretch>
            <a:fillRect/>
          </a:stretch>
        </p:blipFill>
        <p:spPr>
          <a:xfrm>
            <a:off x="0" y="0"/>
            <a:ext cx="12192000" cy="6857989"/>
          </a:xfrm>
          <a:prstGeom prst="rect">
            <a:avLst/>
          </a:prstGeom>
        </p:spPr>
      </p:pic>
      <p:sp>
        <p:nvSpPr>
          <p:cNvPr id="3" name="Subtítulo 2">
            <a:extLst>
              <a:ext uri="{FF2B5EF4-FFF2-40B4-BE49-F238E27FC236}">
                <a16:creationId xmlns:a16="http://schemas.microsoft.com/office/drawing/2014/main" id="{FFD69F23-B226-3851-A1E0-6B5F2E490C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39184" y="3931920"/>
            <a:ext cx="3913632" cy="934210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C. BRUGUERA VICENTE</a:t>
            </a: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C5648271-64CE-057F-695A-97D286DC5C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6800" y="1545330"/>
            <a:ext cx="10058400" cy="1947678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6000" dirty="0">
                <a:solidFill>
                  <a:schemeClr val="bg1"/>
                </a:solidFill>
              </a:rPr>
              <a:t>Evolutionary Game Theory </a:t>
            </a:r>
            <a:br>
              <a:rPr lang="en-US" sz="6000" dirty="0">
                <a:solidFill>
                  <a:schemeClr val="bg1"/>
                </a:solidFill>
              </a:rPr>
            </a:br>
            <a:r>
              <a:rPr lang="en-US" sz="6000" dirty="0">
                <a:solidFill>
                  <a:schemeClr val="bg1"/>
                </a:solidFill>
              </a:rPr>
              <a:t>in Growing Populations</a:t>
            </a:r>
          </a:p>
        </p:txBody>
      </p:sp>
    </p:spTree>
    <p:extLst>
      <p:ext uri="{BB962C8B-B14F-4D97-AF65-F5344CB8AC3E}">
        <p14:creationId xmlns:p14="http://schemas.microsoft.com/office/powerpoint/2010/main" val="5943680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7B12041-94FA-07AA-37CE-D57EA792546F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/>
          <a:srcRect t="20213"/>
          <a:stretch>
            <a:fillRect/>
          </a:stretch>
        </p:blipFill>
        <p:spPr>
          <a:xfrm>
            <a:off x="0" y="0"/>
            <a:ext cx="12192000" cy="6857989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32C1649B-E054-DB0A-98A9-BFD819E903A8}"/>
              </a:ext>
            </a:extLst>
          </p:cNvPr>
          <p:cNvSpPr/>
          <p:nvPr/>
        </p:nvSpPr>
        <p:spPr>
          <a:xfrm>
            <a:off x="957072" y="697264"/>
            <a:ext cx="10198608" cy="9875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CE84DB6-2224-C916-F2E1-CAC079636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071" y="765110"/>
            <a:ext cx="10127695" cy="790872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Index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A903431-55E9-9581-7A0A-70E5481715B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57072" y="2023962"/>
            <a:ext cx="10198608" cy="42907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0F8FA37-C320-C1C8-2902-42755C5604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023963"/>
            <a:ext cx="10058400" cy="3951562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chemeClr val="tx1"/>
                </a:solidFill>
              </a:rPr>
              <a:t>Introduction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chemeClr val="tx1"/>
                </a:solidFill>
              </a:rPr>
              <a:t>General model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chemeClr val="tx1"/>
                </a:solidFill>
              </a:rPr>
              <a:t>Prisoner’s dilemma game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chemeClr val="tx1"/>
                </a:solidFill>
              </a:rPr>
              <a:t>Result: Overshoot and transient increase of cooperation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chemeClr val="tx1"/>
                </a:solidFill>
              </a:rPr>
              <a:t>Result: Competition between selection and growth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chemeClr val="tx1"/>
                </a:solidFill>
              </a:rPr>
              <a:t>Conclusions</a:t>
            </a:r>
          </a:p>
        </p:txBody>
      </p:sp>
    </p:spTree>
    <p:extLst>
      <p:ext uri="{BB962C8B-B14F-4D97-AF65-F5344CB8AC3E}">
        <p14:creationId xmlns:p14="http://schemas.microsoft.com/office/powerpoint/2010/main" val="3199886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EF01D-71F2-83CE-4C80-BC25111B1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16A8EE9-B76C-A73F-DCD1-ECF9AF78B8D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/>
          <a:srcRect t="20213"/>
          <a:stretch>
            <a:fillRect/>
          </a:stretch>
        </p:blipFill>
        <p:spPr>
          <a:xfrm>
            <a:off x="0" y="0"/>
            <a:ext cx="12192000" cy="6857989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D9E5BC46-C07D-526F-6527-8E8E40D661F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57072" y="697264"/>
            <a:ext cx="10198608" cy="9875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B811145-2048-BF86-6766-8D37AC6D6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071" y="765110"/>
            <a:ext cx="10127695" cy="790872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Introduction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D2E24CB-C30D-CA43-2B77-54D706933C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57072" y="2023962"/>
            <a:ext cx="4544568" cy="42907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8BBE903-F1C1-D5D2-B252-099285A58E8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611112" y="2023962"/>
            <a:ext cx="4544568" cy="42907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9957E8A-348D-B889-4464-F97244593D19}"/>
              </a:ext>
            </a:extLst>
          </p:cNvPr>
          <p:cNvSpPr txBox="1"/>
          <p:nvPr/>
        </p:nvSpPr>
        <p:spPr>
          <a:xfrm>
            <a:off x="957071" y="2080594"/>
            <a:ext cx="45445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+mj-lt"/>
              </a:rPr>
              <a:t>Evolutionary game theory</a:t>
            </a:r>
            <a:endParaRPr lang="en-US" sz="2400" dirty="0">
              <a:latin typeface="+mj-lt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C968038-8D8B-13AE-EA49-5F8314F8E330}"/>
              </a:ext>
            </a:extLst>
          </p:cNvPr>
          <p:cNvSpPr txBox="1"/>
          <p:nvPr/>
        </p:nvSpPr>
        <p:spPr>
          <a:xfrm>
            <a:off x="6611111" y="2080593"/>
            <a:ext cx="45445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+mj-lt"/>
              </a:rPr>
              <a:t>Ecology</a:t>
            </a:r>
            <a:endParaRPr lang="en-US" sz="2400" dirty="0">
              <a:latin typeface="+mj-lt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FB40D58F-6C79-9DD7-B761-CDEFB13824B4}"/>
              </a:ext>
            </a:extLst>
          </p:cNvPr>
          <p:cNvSpPr txBox="1"/>
          <p:nvPr/>
        </p:nvSpPr>
        <p:spPr>
          <a:xfrm>
            <a:off x="1229196" y="2714183"/>
            <a:ext cx="4272444" cy="14296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000" dirty="0">
                <a:solidFill>
                  <a:schemeClr val="tx1"/>
                </a:solidFill>
              </a:rPr>
              <a:t>Species’ Traits/Strategies: A, B</a:t>
            </a:r>
          </a:p>
          <a:p>
            <a:pPr algn="just">
              <a:lnSpc>
                <a:spcPct val="150000"/>
              </a:lnSpc>
            </a:pPr>
            <a:r>
              <a:rPr lang="en-US" sz="2000" dirty="0"/>
              <a:t>Fraction of individuals with A: x</a:t>
            </a:r>
          </a:p>
          <a:p>
            <a:pPr algn="just">
              <a:lnSpc>
                <a:spcPct val="150000"/>
              </a:lnSpc>
            </a:pPr>
            <a:r>
              <a:rPr lang="en-US" sz="2000" dirty="0"/>
              <a:t>Dynamics: Replicator equation</a:t>
            </a: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BF3D6C8A-BE5D-6BBB-F789-6D86F91AC0A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7840"/>
          <a:stretch>
            <a:fillRect/>
          </a:stretch>
        </p:blipFill>
        <p:spPr>
          <a:xfrm>
            <a:off x="2252960" y="4909557"/>
            <a:ext cx="1952790" cy="524535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0092F207-9EF9-3B5C-815E-BA7CDD2E9DD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9654"/>
          <a:stretch>
            <a:fillRect/>
          </a:stretch>
        </p:blipFill>
        <p:spPr>
          <a:xfrm>
            <a:off x="8098514" y="4284870"/>
            <a:ext cx="1569761" cy="506293"/>
          </a:xfrm>
          <a:prstGeom prst="rect">
            <a:avLst/>
          </a:prstGeom>
        </p:spPr>
      </p:pic>
      <p:sp>
        <p:nvSpPr>
          <p:cNvPr id="21" name="CuadroTexto 20">
            <a:extLst>
              <a:ext uri="{FF2B5EF4-FFF2-40B4-BE49-F238E27FC236}">
                <a16:creationId xmlns:a16="http://schemas.microsoft.com/office/drawing/2014/main" id="{47309D3E-55AA-5883-DCA1-91D00CDBC8ED}"/>
              </a:ext>
            </a:extLst>
          </p:cNvPr>
          <p:cNvSpPr txBox="1"/>
          <p:nvPr/>
        </p:nvSpPr>
        <p:spPr>
          <a:xfrm>
            <a:off x="6962484" y="2761366"/>
            <a:ext cx="4272444" cy="506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000" dirty="0">
                <a:solidFill>
                  <a:schemeClr val="tx1"/>
                </a:solidFill>
              </a:rPr>
              <a:t>Total size of population: N</a:t>
            </a:r>
            <a:endParaRPr lang="en-US" sz="2000" dirty="0"/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EEBBD0F0-50E7-D00E-BD31-3F6F5F654D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7840"/>
          <a:stretch>
            <a:fillRect/>
          </a:stretch>
        </p:blipFill>
        <p:spPr>
          <a:xfrm>
            <a:off x="2252960" y="4428465"/>
            <a:ext cx="1952790" cy="524535"/>
          </a:xfrm>
          <a:prstGeom prst="rect">
            <a:avLst/>
          </a:prstGeom>
        </p:spPr>
      </p:pic>
      <p:pic>
        <p:nvPicPr>
          <p:cNvPr id="23" name="Imagen 22">
            <a:extLst>
              <a:ext uri="{FF2B5EF4-FFF2-40B4-BE49-F238E27FC236}">
                <a16:creationId xmlns:a16="http://schemas.microsoft.com/office/drawing/2014/main" id="{FE38D983-1C54-A14D-2E24-92564961F69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9654"/>
          <a:stretch>
            <a:fillRect/>
          </a:stretch>
        </p:blipFill>
        <p:spPr>
          <a:xfrm>
            <a:off x="8098514" y="3785536"/>
            <a:ext cx="1569761" cy="506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2726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2B815-320C-DC5B-1513-9FCED0B1A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6B30E75-2959-800F-B79A-6C7B3ECA8E13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/>
          <a:srcRect t="20213"/>
          <a:stretch>
            <a:fillRect/>
          </a:stretch>
        </p:blipFill>
        <p:spPr>
          <a:xfrm>
            <a:off x="0" y="0"/>
            <a:ext cx="12192000" cy="6857989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C9B663F9-3476-40CB-20F2-D8421C11358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57072" y="697264"/>
            <a:ext cx="10198608" cy="9875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2FEECC2-811B-CC54-346C-4CC86F7B5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071" y="765110"/>
            <a:ext cx="10127695" cy="790872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Introduction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3011D06-04DF-4F35-E3E2-104E854C707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611112" y="2023962"/>
            <a:ext cx="4544568" cy="42907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09E87EA-54A6-34C2-2D33-9524904432A3}"/>
              </a:ext>
            </a:extLst>
          </p:cNvPr>
          <p:cNvSpPr txBox="1"/>
          <p:nvPr/>
        </p:nvSpPr>
        <p:spPr>
          <a:xfrm>
            <a:off x="6527137" y="3735654"/>
            <a:ext cx="22902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+mj-lt"/>
              </a:rPr>
              <a:t>New ant colony: </a:t>
            </a:r>
            <a:endParaRPr lang="en-US" sz="2000" dirty="0">
              <a:latin typeface="+mj-lt"/>
            </a:endParaRP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E65E18DD-040C-7B79-32FC-70DAAEB5EF44}"/>
              </a:ext>
            </a:extLst>
          </p:cNvPr>
          <p:cNvSpPr/>
          <p:nvPr/>
        </p:nvSpPr>
        <p:spPr>
          <a:xfrm>
            <a:off x="6804660" y="2321092"/>
            <a:ext cx="4214958" cy="118647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1F7FDE47-E943-F807-FF60-A93A1C5F757E}"/>
              </a:ext>
            </a:extLst>
          </p:cNvPr>
          <p:cNvSpPr txBox="1"/>
          <p:nvPr/>
        </p:nvSpPr>
        <p:spPr>
          <a:xfrm>
            <a:off x="6611112" y="2253438"/>
            <a:ext cx="4544568" cy="114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</a:rPr>
              <a:t>Internal strategy and total population are not independent.</a:t>
            </a:r>
            <a:endParaRPr lang="en-US" sz="2400" dirty="0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77AF00A6-D1FE-705E-FAE1-6F73C23AA4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456" y="2615956"/>
            <a:ext cx="4318435" cy="2878956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5BCA2DF9-0F0A-9FE0-E0F9-3E13A89D5390}"/>
              </a:ext>
            </a:extLst>
          </p:cNvPr>
          <p:cNvSpPr txBox="1"/>
          <p:nvPr/>
        </p:nvSpPr>
        <p:spPr>
          <a:xfrm>
            <a:off x="6747174" y="4055434"/>
            <a:ext cx="4272444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</a:rPr>
              <a:t>Individuals </a:t>
            </a:r>
            <a:r>
              <a:rPr lang="en-US" dirty="0"/>
              <a:t>that cooperate by foraging, defending the nest, or caring for larvae increase the growth rate and survival of the colony.</a:t>
            </a:r>
          </a:p>
        </p:txBody>
      </p:sp>
    </p:spTree>
    <p:extLst>
      <p:ext uri="{BB962C8B-B14F-4D97-AF65-F5344CB8AC3E}">
        <p14:creationId xmlns:p14="http://schemas.microsoft.com/office/powerpoint/2010/main" val="2903672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5CA7-5346-1564-07A7-84D92C967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FE94E59-3DBD-3C1E-1407-8593148C1CDE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/>
          <a:srcRect t="20213"/>
          <a:stretch>
            <a:fillRect/>
          </a:stretch>
        </p:blipFill>
        <p:spPr>
          <a:xfrm>
            <a:off x="0" y="0"/>
            <a:ext cx="12192000" cy="6857989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DD10ABCB-3492-E069-2179-0F32390BB6E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57072" y="697264"/>
            <a:ext cx="10198608" cy="9875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883DEDC-9A96-D4B1-C3C3-71C0F20FA7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071" y="765110"/>
            <a:ext cx="10127695" cy="790872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General model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B0CB7EDF-0E69-9F86-1446-4490A998C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57072" y="2023962"/>
            <a:ext cx="10198608" cy="42907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Marcador de contenido 7">
            <a:extLst>
              <a:ext uri="{FF2B5EF4-FFF2-40B4-BE49-F238E27FC236}">
                <a16:creationId xmlns:a16="http://schemas.microsoft.com/office/drawing/2014/main" id="{83A2C195-009E-23CD-7A60-716FEDD716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071" y="2108110"/>
            <a:ext cx="10198609" cy="425964"/>
          </a:xfrm>
        </p:spPr>
        <p:txBody>
          <a:bodyPr>
            <a:normAutofit/>
          </a:bodyPr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+mj-lt"/>
              </a:rPr>
              <a:t>Birth-death dynamics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D483363C-A0E1-364E-5689-F54E666675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3612" y="853896"/>
            <a:ext cx="2938524" cy="626748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8F4AAE92-79E6-DA2B-E0E7-4ECB7772DC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29279" y="2977823"/>
            <a:ext cx="8561504" cy="902342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D7548E4F-109F-DBA4-EC90-9EE21329E7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53262" y="2164135"/>
            <a:ext cx="1157363" cy="307265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5021F6AD-9BE2-E200-CAB2-87A53735EEE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66533" y="4415432"/>
            <a:ext cx="7486997" cy="693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196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DAC5F-DDC4-D47A-356E-B9B3FD96C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8D569C9-FD9F-7896-37A5-1FEAC7835B8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/>
          <a:srcRect t="20213"/>
          <a:stretch>
            <a:fillRect/>
          </a:stretch>
        </p:blipFill>
        <p:spPr>
          <a:xfrm>
            <a:off x="0" y="0"/>
            <a:ext cx="12192000" cy="6857989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BBC5B0D8-F3E1-1C68-2C7F-AC7FAF8E2B7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57072" y="697264"/>
            <a:ext cx="10198608" cy="9875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A882E6F-8348-055D-CFEE-202673CA7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071" y="765110"/>
            <a:ext cx="10127695" cy="790872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General model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8775178-9E90-5DFC-6423-A43A69119E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57072" y="2023962"/>
            <a:ext cx="10198608" cy="42907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Marcador de contenido 7">
            <a:extLst>
              <a:ext uri="{FF2B5EF4-FFF2-40B4-BE49-F238E27FC236}">
                <a16:creationId xmlns:a16="http://schemas.microsoft.com/office/drawing/2014/main" id="{9E014015-4109-2283-C820-060247D70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071" y="2108110"/>
            <a:ext cx="10198609" cy="425964"/>
          </a:xfrm>
        </p:spPr>
        <p:txBody>
          <a:bodyPr>
            <a:normAutofit/>
          </a:bodyPr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+mj-lt"/>
              </a:rPr>
              <a:t>Deterministic limit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D8E07D1D-C9EC-52FC-3539-C6E1D9F3F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1349" y="3432746"/>
            <a:ext cx="6082155" cy="676811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5ECC1A27-6491-9AD1-48C7-29AF68A41A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8503" y="4444848"/>
            <a:ext cx="4671591" cy="370027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ED35169A-626E-4103-CD9B-B4391B41F8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6793" y="2740415"/>
            <a:ext cx="6335009" cy="433905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AA050236-4D50-B63A-D505-5A9E1115C6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19490" y="5206552"/>
            <a:ext cx="8153020" cy="622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958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2279E-6A5F-2061-597D-14D2A10C2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B9D0B61-A060-EDBE-3CEB-8CD56565FCF8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/>
          <a:srcRect t="20213"/>
          <a:stretch>
            <a:fillRect/>
          </a:stretch>
        </p:blipFill>
        <p:spPr>
          <a:xfrm>
            <a:off x="0" y="0"/>
            <a:ext cx="12192000" cy="6857989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9E541057-701D-3E0F-F532-3E5EEA65F8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57072" y="697264"/>
            <a:ext cx="10198608" cy="9875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780F709-5E90-75D7-9B41-2277DD001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071" y="765110"/>
            <a:ext cx="10127695" cy="790872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Prisoner’s dilemma game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374B620-591F-6E66-6BAC-3848568AFC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57072" y="2023962"/>
            <a:ext cx="10198608" cy="42907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43CF807-46B1-0958-3EA0-86A85642C5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" y="2095306"/>
            <a:ext cx="1871955" cy="1247970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DCF414BB-101B-6F3F-17F4-69F6619858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8500" y="2783071"/>
            <a:ext cx="3514999" cy="1305327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294036E2-EE99-16E0-135D-A4F94F9D7B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8201" y="4427544"/>
            <a:ext cx="2819794" cy="362001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46CCAC8D-0A3A-20EC-8443-5C9B1A25B3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319" y="3660978"/>
            <a:ext cx="2469065" cy="100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853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43A6E-39A6-B8DB-75D2-048E1B5A8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BA1F4D8-4498-F748-3D0D-B7A2A4766F3E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/>
          <a:srcRect t="20213"/>
          <a:stretch>
            <a:fillRect/>
          </a:stretch>
        </p:blipFill>
        <p:spPr>
          <a:xfrm>
            <a:off x="0" y="0"/>
            <a:ext cx="12192000" cy="6857989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BEB74515-047D-FCD6-3726-2DC0D5C736A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57072" y="697264"/>
            <a:ext cx="10198608" cy="9875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4F6F8D6-66EA-D62C-F3E8-F7C2CD1FF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071" y="765110"/>
            <a:ext cx="10127695" cy="790872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 modification 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4D306BB-D856-7A31-C351-36F2973314A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57072" y="2023962"/>
            <a:ext cx="10198608" cy="42907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191FA759-843C-28DD-4400-B9B232C59E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2446" y="2919341"/>
            <a:ext cx="1667108" cy="1019317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E318D6E0-C0F1-AC2D-33D2-A70FFADCE2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6087" y="4315898"/>
            <a:ext cx="3048425" cy="124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599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520F7-D480-2274-2F41-D8C21F9EB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4DD6B6A-AB3C-0CAA-BFDB-DAD5D371551E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/>
          <a:srcRect t="20213"/>
          <a:stretch>
            <a:fillRect/>
          </a:stretch>
        </p:blipFill>
        <p:spPr>
          <a:xfrm>
            <a:off x="0" y="0"/>
            <a:ext cx="12192000" cy="6857989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E8705B96-DD40-B15A-02E6-B2157A4E25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57072" y="697264"/>
            <a:ext cx="10198608" cy="9875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7C2DA98-3B97-E3E0-C1E9-59F101B9B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071" y="765110"/>
            <a:ext cx="10127695" cy="790872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Average population dynamics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16A1117-1B51-3DF8-73FF-AC517166173D}"/>
              </a:ext>
            </a:extLst>
          </p:cNvPr>
          <p:cNvSpPr>
            <a:spLocks/>
          </p:cNvSpPr>
          <p:nvPr/>
        </p:nvSpPr>
        <p:spPr>
          <a:xfrm>
            <a:off x="6736076" y="4558168"/>
            <a:ext cx="4737231" cy="171724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578E9287-B729-3243-E061-FB8DBECAA4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260"/>
          <a:stretch>
            <a:fillRect/>
          </a:stretch>
        </p:blipFill>
        <p:spPr>
          <a:xfrm>
            <a:off x="495300" y="1913538"/>
            <a:ext cx="6035933" cy="4361871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DB6A651C-6D2D-9A99-1C7A-FFFC9C928C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78" r="1495"/>
          <a:stretch>
            <a:fillRect/>
          </a:stretch>
        </p:blipFill>
        <p:spPr>
          <a:xfrm>
            <a:off x="6736076" y="1909559"/>
            <a:ext cx="4737231" cy="2509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1279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22314-F5AC-F900-700C-362CBDA18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AB1FD75-4613-030E-3499-D564E2C4AC30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/>
          <a:srcRect t="20213"/>
          <a:stretch>
            <a:fillRect/>
          </a:stretch>
        </p:blipFill>
        <p:spPr>
          <a:xfrm>
            <a:off x="0" y="0"/>
            <a:ext cx="12192000" cy="6857989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100724C4-8F00-1861-6AA8-40C6F1316BB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57072" y="697264"/>
            <a:ext cx="10198608" cy="9875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9DB2206-4E91-293F-8469-936FCC8DF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071" y="765110"/>
            <a:ext cx="10127695" cy="790872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Average cooperator fraction dynamics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54AA9CF-42D1-8575-3ADB-390B5173792D}"/>
              </a:ext>
            </a:extLst>
          </p:cNvPr>
          <p:cNvSpPr>
            <a:spLocks/>
          </p:cNvSpPr>
          <p:nvPr/>
        </p:nvSpPr>
        <p:spPr>
          <a:xfrm>
            <a:off x="7172324" y="2023962"/>
            <a:ext cx="4314825" cy="42907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52C97C4D-4A41-DFDB-4B64-CA799C04B2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83" b="-1"/>
          <a:stretch>
            <a:fillRect/>
          </a:stretch>
        </p:blipFill>
        <p:spPr>
          <a:xfrm>
            <a:off x="614356" y="2506614"/>
            <a:ext cx="6400813" cy="3325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95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AEC6C-B27B-A1BA-827C-87FF0EFC6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F7A821C-0292-9683-5435-A1682AF07AF4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/>
          <a:srcRect t="20213"/>
          <a:stretch>
            <a:fillRect/>
          </a:stretch>
        </p:blipFill>
        <p:spPr>
          <a:xfrm>
            <a:off x="0" y="0"/>
            <a:ext cx="12192000" cy="6857989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506ACEB4-E658-2833-8F8F-1DEAE65A333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57072" y="697264"/>
            <a:ext cx="10198608" cy="9875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79D0F49-C2BB-9557-A7C1-183FA15A4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071" y="765110"/>
            <a:ext cx="10127695" cy="79087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Competition between selection and growth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5C615D35-0622-95FC-BFEA-D6C8BA4209A4}"/>
              </a:ext>
            </a:extLst>
          </p:cNvPr>
          <p:cNvSpPr>
            <a:spLocks/>
          </p:cNvSpPr>
          <p:nvPr/>
        </p:nvSpPr>
        <p:spPr>
          <a:xfrm>
            <a:off x="6467474" y="2023962"/>
            <a:ext cx="5124451" cy="42907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0C19D8CA-9A3D-76CC-BD9B-2F79DA2111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869" y="2023961"/>
            <a:ext cx="5809655" cy="4290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0441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D9106-6380-BFC4-E95F-873C90110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0707E8A-0BF5-D42E-4D64-2732A6FB61E4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/>
          <a:srcRect t="20213"/>
          <a:stretch>
            <a:fillRect/>
          </a:stretch>
        </p:blipFill>
        <p:spPr>
          <a:xfrm>
            <a:off x="0" y="0"/>
            <a:ext cx="12192000" cy="6857989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E126BCB5-0DDA-CE5C-FD0C-D578DBDD6A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57072" y="697264"/>
            <a:ext cx="10198608" cy="9875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79AAD70-88DB-D9DA-7619-B4336FF8A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071" y="765110"/>
            <a:ext cx="10127695" cy="790872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Conclusions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16B3BDF-8602-C687-CF56-70756DA646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57072" y="2023962"/>
            <a:ext cx="10198608" cy="42907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Marcador de contenido 7">
            <a:extLst>
              <a:ext uri="{FF2B5EF4-FFF2-40B4-BE49-F238E27FC236}">
                <a16:creationId xmlns:a16="http://schemas.microsoft.com/office/drawing/2014/main" id="{96DECFE0-E118-4D46-EA45-B4BA01F88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069530"/>
            <a:ext cx="10058400" cy="4023360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16543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C1D276-B651-332B-B2AA-B301DC446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1B9965A-350E-C12B-2E4C-5EB8A6B5D68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t="20213"/>
          <a:stretch>
            <a:fillRect/>
          </a:stretch>
        </p:blipFill>
        <p:spPr>
          <a:xfrm>
            <a:off x="0" y="0"/>
            <a:ext cx="12192000" cy="6857989"/>
          </a:xfrm>
          <a:prstGeom prst="rect">
            <a:avLst/>
          </a:prstGeom>
        </p:spPr>
      </p:pic>
      <p:sp>
        <p:nvSpPr>
          <p:cNvPr id="10" name="Título 1">
            <a:extLst>
              <a:ext uri="{FF2B5EF4-FFF2-40B4-BE49-F238E27FC236}">
                <a16:creationId xmlns:a16="http://schemas.microsoft.com/office/drawing/2014/main" id="{C00B0B38-EE88-2C74-CFEE-93AA01EBAC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935027"/>
            <a:ext cx="12192000" cy="987933"/>
          </a:xfrm>
        </p:spPr>
        <p:txBody>
          <a:bodyPr>
            <a:normAutofit fontScale="90000"/>
          </a:bodyPr>
          <a:lstStyle/>
          <a:p>
            <a:pPr algn="ctr">
              <a:lnSpc>
                <a:spcPct val="100000"/>
              </a:lnSpc>
            </a:pPr>
            <a:r>
              <a:rPr lang="en-US" sz="6000" dirty="0">
                <a:solidFill>
                  <a:schemeClr val="bg1"/>
                </a:solidFill>
              </a:rPr>
              <a:t>Thanks! &lt;3</a:t>
            </a:r>
          </a:p>
        </p:txBody>
      </p:sp>
    </p:spTree>
    <p:extLst>
      <p:ext uri="{BB962C8B-B14F-4D97-AF65-F5344CB8AC3E}">
        <p14:creationId xmlns:p14="http://schemas.microsoft.com/office/powerpoint/2010/main" val="36669826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Retrospección">
  <a:themeElements>
    <a:clrScheme name="Rojo naranja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Retrospecció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ción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255</TotalTime>
  <Words>135</Words>
  <Application>Microsoft Office PowerPoint</Application>
  <PresentationFormat>Panorámica</PresentationFormat>
  <Paragraphs>33</Paragraphs>
  <Slides>13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8" baseType="lpstr">
      <vt:lpstr>Aptos</vt:lpstr>
      <vt:lpstr>Calibri</vt:lpstr>
      <vt:lpstr>Calibri Light</vt:lpstr>
      <vt:lpstr>Wingdings</vt:lpstr>
      <vt:lpstr>Retrospección</vt:lpstr>
      <vt:lpstr>Evolutionary Game Theory  in Growing Populations</vt:lpstr>
      <vt:lpstr>Index</vt:lpstr>
      <vt:lpstr>Introduction</vt:lpstr>
      <vt:lpstr>Introduction</vt:lpstr>
      <vt:lpstr>General model</vt:lpstr>
      <vt:lpstr>General model</vt:lpstr>
      <vt:lpstr>Prisoner’s dilemma game</vt:lpstr>
      <vt:lpstr>Model modification </vt:lpstr>
      <vt:lpstr>Average population dynamics</vt:lpstr>
      <vt:lpstr>Average cooperator fraction dynamics</vt:lpstr>
      <vt:lpstr>Competition between selection and growth</vt:lpstr>
      <vt:lpstr>Conclusions</vt:lpstr>
      <vt:lpstr>Thanks! &lt;3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Carla Bruguera Vicente</dc:creator>
  <cp:lastModifiedBy>Carla Bruguera Vicente</cp:lastModifiedBy>
  <cp:revision>10</cp:revision>
  <dcterms:created xsi:type="dcterms:W3CDTF">2026-05-20T10:23:58Z</dcterms:created>
  <dcterms:modified xsi:type="dcterms:W3CDTF">2026-05-21T18:00:24Z</dcterms:modified>
</cp:coreProperties>
</file>